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b8640ad9ac4107" /><Relationship Type="http://schemas.openxmlformats.org/officeDocument/2006/relationships/extended-properties" Target="/docProps/app.xml" Id="Rd9a3712ac53d4ccf" /><Relationship Type="http://schemas.openxmlformats.org/officeDocument/2006/relationships/officeDocument" Target="/ppt/presentation.xml" Id="Re8713c0d903d4f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749f99fd534e2d"/>
  </p:sldMasterIdLst>
  <p:notesMasterIdLst>
    <p:notesMasterId xmlns:r="http://schemas.openxmlformats.org/officeDocument/2006/relationships" r:id="R26d8d31d2e3f4921"/>
  </p:notesMasterIdLst>
  <p:sldIdLst>
    <p:sldId xmlns:r="http://schemas.openxmlformats.org/officeDocument/2006/relationships" id="256" r:id="Rae70461da31640c1"/>
    <p:sldId xmlns:r="http://schemas.openxmlformats.org/officeDocument/2006/relationships" id="257" r:id="R13202aa0cb9a4ca4"/>
    <p:sldId xmlns:r="http://schemas.openxmlformats.org/officeDocument/2006/relationships" id="258" r:id="Rb0a6d7fcf2ef4578"/>
    <p:sldId xmlns:r="http://schemas.openxmlformats.org/officeDocument/2006/relationships" id="259" r:id="Ra0a5a39792bc47a0"/>
    <p:sldId xmlns:r="http://schemas.openxmlformats.org/officeDocument/2006/relationships" id="260" r:id="R0400fd4115e54b6f"/>
    <p:sldId xmlns:r="http://schemas.openxmlformats.org/officeDocument/2006/relationships" id="261" r:id="Rb5b0005f595d430c"/>
    <p:sldId xmlns:r="http://schemas.openxmlformats.org/officeDocument/2006/relationships" id="262" r:id="R35ebd40c847c4a5d"/>
    <p:sldId xmlns:r="http://schemas.openxmlformats.org/officeDocument/2006/relationships" id="263" r:id="Re9ddc1bd24704fb9"/>
    <p:sldId xmlns:r="http://schemas.openxmlformats.org/officeDocument/2006/relationships" id="264" r:id="Red7f16e69dd7473c"/>
    <p:sldId xmlns:r="http://schemas.openxmlformats.org/officeDocument/2006/relationships" id="265" r:id="R1fdb7b90239e4f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8a4a2fe61b49d7" /><Relationship Type="http://schemas.openxmlformats.org/officeDocument/2006/relationships/slideMaster" Target="/ppt/slideMasters/slideMaster1.xml" Id="R72749f99fd534e2d" /><Relationship Type="http://schemas.openxmlformats.org/officeDocument/2006/relationships/notesMaster" Target="/ppt/notesMasters/notesMaster1.xml" Id="R26d8d31d2e3f4921" /><Relationship Type="http://schemas.openxmlformats.org/officeDocument/2006/relationships/presProps" Target="/ppt/presProps.xml" Id="Rb99de0003b1143bf" /><Relationship Type="http://schemas.openxmlformats.org/officeDocument/2006/relationships/tableStyles" Target="/ppt/tableStyles.xml" Id="R0fe1850a0eca4dcf" /><Relationship Type="http://schemas.openxmlformats.org/officeDocument/2006/relationships/slide" Target="/ppt/slides/slide1.xml" Id="Rae70461da31640c1" /><Relationship Type="http://schemas.openxmlformats.org/officeDocument/2006/relationships/slide" Target="/ppt/slides/slide2.xml" Id="R13202aa0cb9a4ca4" /><Relationship Type="http://schemas.openxmlformats.org/officeDocument/2006/relationships/slide" Target="/ppt/slides/slide3.xml" Id="Rb0a6d7fcf2ef4578" /><Relationship Type="http://schemas.openxmlformats.org/officeDocument/2006/relationships/slide" Target="/ppt/slides/slide4.xml" Id="Ra0a5a39792bc47a0" /><Relationship Type="http://schemas.openxmlformats.org/officeDocument/2006/relationships/slide" Target="/ppt/slides/slide5.xml" Id="R0400fd4115e54b6f" /><Relationship Type="http://schemas.openxmlformats.org/officeDocument/2006/relationships/slide" Target="/ppt/slides/slide6.xml" Id="Rb5b0005f595d430c" /><Relationship Type="http://schemas.openxmlformats.org/officeDocument/2006/relationships/slide" Target="/ppt/slides/slide7.xml" Id="R35ebd40c847c4a5d" /><Relationship Type="http://schemas.openxmlformats.org/officeDocument/2006/relationships/slide" Target="/ppt/slides/slide8.xml" Id="Re9ddc1bd24704fb9" /><Relationship Type="http://schemas.openxmlformats.org/officeDocument/2006/relationships/slide" Target="/ppt/slides/slide9.xml" Id="Red7f16e69dd7473c" /><Relationship Type="http://schemas.openxmlformats.org/officeDocument/2006/relationships/slide" Target="/ppt/slides/slide10.xml" Id="R1fdb7b90239e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19024a7ca4e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89d616defd40b8" /><Relationship Type="http://schemas.openxmlformats.org/officeDocument/2006/relationships/notesMaster" Target="/ppt/notesMasters/notesMaster1.xml" Id="R01a0cbbc0d414f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f524ef4e8541c4" /><Relationship Type="http://schemas.openxmlformats.org/officeDocument/2006/relationships/notesMaster" Target="/ppt/notesMasters/notesMaster1.xml" Id="Redd375029b5645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5aca3df06045b3" /><Relationship Type="http://schemas.openxmlformats.org/officeDocument/2006/relationships/notesMaster" Target="/ppt/notesMasters/notesMaster1.xml" Id="R89f90003d0304a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5bc86af65140e9" /><Relationship Type="http://schemas.openxmlformats.org/officeDocument/2006/relationships/notesMaster" Target="/ppt/notesMasters/notesMaster1.xml" Id="R7db9d20e88e747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5001f2ce640e8" /><Relationship Type="http://schemas.openxmlformats.org/officeDocument/2006/relationships/notesMaster" Target="/ppt/notesMasters/notesMaster1.xml" Id="R1ba85786d11d4b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d882cfb8e24308" /><Relationship Type="http://schemas.openxmlformats.org/officeDocument/2006/relationships/notesMaster" Target="/ppt/notesMasters/notesMaster1.xml" Id="Rbf092fb484764e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630cc8da9e40b1" /><Relationship Type="http://schemas.openxmlformats.org/officeDocument/2006/relationships/notesMaster" Target="/ppt/notesMasters/notesMaster1.xml" Id="Rda57c640c2d347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e9178edc924fa1" /><Relationship Type="http://schemas.openxmlformats.org/officeDocument/2006/relationships/notesMaster" Target="/ppt/notesMasters/notesMaster1.xml" Id="Rd0a2f249cce74a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71792423644468" /><Relationship Type="http://schemas.openxmlformats.org/officeDocument/2006/relationships/notesMaster" Target="/ppt/notesMasters/notesMaster1.xml" Id="R2b4f55e6a65f4a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90dd6a1200427f" /><Relationship Type="http://schemas.openxmlformats.org/officeDocument/2006/relationships/notesMaster" Target="/ppt/notesMasters/notesMaster1.xml" Id="Ree46aecf3112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8b381844f47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71a3ee4ae40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0123da3ad45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71813e4743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d1f1270a04c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248feee2a4a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CB0DE8-0903-4829-A470-83E4F8DC0B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9A8438-EDD7-4774-9701-87E1767CC2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27865A-8FC2-4326-9F85-7E0D05896E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6BFD31-B3E5-4ADD-A5E3-3FF9F9FDA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DFAC86-B87D-4ECD-AF6E-7FDC973BC0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8ADF44-B3D0-436C-BA06-E622804B6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898566-82F8-48AC-8EDC-F11BB7A48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AB9A78-16A2-4659-86CA-F3D663744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6AB6AF-5749-4648-BD3C-09F96580E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5B4B62-234C-48FF-8226-525967C68A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3db73c9074f6d" /><Relationship Type="http://schemas.openxmlformats.org/officeDocument/2006/relationships/slideLayout" Target="/ppt/slideLayouts/slideLayout1.xml" Id="R311b9333a3cd4778" /><Relationship Type="http://schemas.openxmlformats.org/officeDocument/2006/relationships/slideLayout" Target="/ppt/slideLayouts/slideLayout2.xml" Id="Rf1a2fc6ef101444d" /><Relationship Type="http://schemas.openxmlformats.org/officeDocument/2006/relationships/slideLayout" Target="/ppt/slideLayouts/slideLayout3.xml" Id="Re258080572d948b3" /><Relationship Type="http://schemas.openxmlformats.org/officeDocument/2006/relationships/slideLayout" Target="/ppt/slideLayouts/slideLayout4.xml" Id="Re1283f388d284a2f" /><Relationship Type="http://schemas.openxmlformats.org/officeDocument/2006/relationships/slideLayout" Target="/ppt/slideLayouts/slideLayout5.xml" Id="Raad5a78958044af2" /><Relationship Type="http://schemas.openxmlformats.org/officeDocument/2006/relationships/slideLayout" Target="/ppt/slideLayouts/slideLayout6.xml" Id="Refab724242bd40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b9333a3cd4778"/>
    <p:sldLayoutId xmlns:r="http://schemas.openxmlformats.org/officeDocument/2006/relationships" id="2147483650" r:id="Rf1a2fc6ef101444d"/>
    <p:sldLayoutId xmlns:r="http://schemas.openxmlformats.org/officeDocument/2006/relationships" id="2147483651" r:id="Re258080572d948b3"/>
    <p:sldLayoutId xmlns:r="http://schemas.openxmlformats.org/officeDocument/2006/relationships" id="2147483652" r:id="Re1283f388d284a2f"/>
    <p:sldLayoutId xmlns:r="http://schemas.openxmlformats.org/officeDocument/2006/relationships" id="2147483653" r:id="Raad5a78958044af2"/>
    <p:sldLayoutId xmlns:r="http://schemas.openxmlformats.org/officeDocument/2006/relationships" id="2147483654" r:id="Refab724242bd40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1d658823c4da5" /><Relationship Type="http://schemas.openxmlformats.org/officeDocument/2006/relationships/notesSlide" Target="/ppt/notesSlides/notesSlide1.xml" Id="R4fdf12b41ea64c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57b8745cf4c05" /><Relationship Type="http://schemas.openxmlformats.org/officeDocument/2006/relationships/notesSlide" Target="/ppt/notesSlides/notesSlide2.xml" Id="Rf1448043730444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b0f7281b24925" /><Relationship Type="http://schemas.openxmlformats.org/officeDocument/2006/relationships/notesSlide" Target="/ppt/notesSlides/notesSlide3.xml" Id="R9cc6fa032d5148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cb6c1fed14274" /><Relationship Type="http://schemas.openxmlformats.org/officeDocument/2006/relationships/notesSlide" Target="/ppt/notesSlides/notesSlide4.xml" Id="R5c1bc357695b45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53ca6073a4053" /><Relationship Type="http://schemas.openxmlformats.org/officeDocument/2006/relationships/notesSlide" Target="/ppt/notesSlides/notesSlide5.xml" Id="R4031cf52d311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fa8ec419d44da" /><Relationship Type="http://schemas.openxmlformats.org/officeDocument/2006/relationships/notesSlide" Target="/ppt/notesSlides/notesSlide6.xml" Id="Rc9cebeea6eb543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fde9cf5d54197" /><Relationship Type="http://schemas.openxmlformats.org/officeDocument/2006/relationships/image" Target="/ppt/media/image.png" Id="Rc4055bac8b8c474d" /><Relationship Type="http://schemas.openxmlformats.org/officeDocument/2006/relationships/notesSlide" Target="/ppt/notesSlides/notesSlide7.xml" Id="R2fbf45b6482a41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79d41403d4150" /><Relationship Type="http://schemas.openxmlformats.org/officeDocument/2006/relationships/image" Target="/ppt/media/image2.png" Id="R11b620fe12904b50" /><Relationship Type="http://schemas.openxmlformats.org/officeDocument/2006/relationships/notesSlide" Target="/ppt/notesSlides/notesSlide8.xml" Id="R78a6f7c09dc948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9bc5a0c154384" /><Relationship Type="http://schemas.openxmlformats.org/officeDocument/2006/relationships/image" Target="/ppt/media/image3.png" Id="Rff60f37aac894568" /><Relationship Type="http://schemas.openxmlformats.org/officeDocument/2006/relationships/notesSlide" Target="/ppt/notesSlides/notesSlide9.xml" Id="Rcccfa940f7c040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bd8d9d3a34b7d" /><Relationship Type="http://schemas.openxmlformats.org/officeDocument/2006/relationships/image" Target="/ppt/media/image4.png" Id="R3c223ba311484dec" /><Relationship Type="http://schemas.openxmlformats.org/officeDocument/2006/relationships/notesSlide" Target="/ppt/notesSlides/notesSlide10.xml" Id="R82f098eecfad4c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B32C3-8A9A-479A-94CB-7BD061E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143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9F02C-02EA-4C28-9A37-41B6B98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7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0CE"/>
                </a:solidFill>
                <a:latin typeface="Arial"/>
                <a:ea typeface="Arial"/>
                <a:cs typeface="Arial"/>
              </a:rPr>
              <a:t>MACHINE LEARNING MINI-PROJECT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1F324-0851-4742-B770-D67B49ED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952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ATP Tennis Match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Winner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DA108-7A68-4BBE-83B5-4DED6A79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D9E6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9E6E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6EE"/>
                </a:solidFill>
                <a:latin typeface="Arial"/>
                <a:ea typeface="Arial"/>
                <a:cs typeface="Arial"/>
              </a:rPr>
              <a:t>Historical evaluation on the 2024 ATP season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40B4B-C637-47AB-B99E-5C439408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B8C8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8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8D4"/>
                </a:solidFill>
                <a:latin typeface="Arial"/>
                <a:ea typeface="Arial"/>
                <a:cs typeface="Arial"/>
              </a:rPr>
              <a:t>Pre-match features • chronological validation • model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E57DC-D71F-4A58-956F-DA115A71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FD0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0CE"/>
                </a:solidFill>
                <a:latin typeface="Arial"/>
                <a:ea typeface="Arial"/>
                <a:cs typeface="Arial"/>
              </a:rPr>
              <a:t>Results include accuracy, precision, recall, F1, and ROC-AUC</a:t>
            </a:r>
          </a:p>
        </p:txBody>
      </p:sp>
    </p:spTree>
    <p:extLst>
      <p:ext uri="{BB962C8B-B14F-4D97-AF65-F5344CB8AC3E}">
        <p14:creationId xmlns:p14="http://schemas.microsoft.com/office/powerpoint/2010/main" val="2050723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0B1CE-D8A4-4DE7-B2C8-1E6380F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E15A4-0197-4B53-B250-50080C5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Problem and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075F2-C2D2-4AB9-A0D1-6F43CDC1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133D9-C5BD-432B-A4BE-C1DB8D1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88174-1A8D-469E-9307-C38C4C25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Prediction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921B8-1F89-4A79-B776-33DE59F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Can information available before a match predict which ATP singles player wins?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45959-A902-45A4-B9DB-6EA58D4B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Dataset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784AD-471E-48D0-B591-EB78C18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1991–2024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843CA-7913-463C-9E3C-D9BE76A0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335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season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FC426-572E-4F78-9899-FCA120E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108,375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C91DE-A628-4653-9424-534CEBC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cleaned match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5495C-8AF8-473D-9C10-CFEB4A56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98,530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B21F4-039E-4B2F-AE3A-B8C6DF02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prediction rows after Davis Cup exclusion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054B3-87F5-48EE-AC57-0774EC8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D5534-4F7E-4621-A310-ECA44B0C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One row represents one match. Player A is the lower numeric player ID. The target is 1 when Player A wins and 0 when Player B wins.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1AB61-65A1-4023-99FD-D8C5252C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Source: Jeff Sackmann / Tennis Abstract ATP match data mirror. License: CC BY-NC-SA 4.0.</a:t>
            </a:r>
          </a:p>
        </p:txBody>
      </p:sp>
    </p:spTree>
    <p:extLst>
      <p:ext uri="{BB962C8B-B14F-4D97-AF65-F5344CB8AC3E}">
        <p14:creationId xmlns:p14="http://schemas.microsoft.com/office/powerpoint/2010/main" val="395415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4475D8-C768-4593-B918-DF171F9F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74DF0-75C4-4A5B-9AAF-111E212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Pre-match features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6110C-7839-43C3-A2F4-0CEAD656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1AE7E-6362-434D-BF5D-36611EBC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62D01-C327-44C4-B748-21B37435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Player strength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C83A-F305-4208-B697-6DE6419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B9381-5378-4612-8205-15CF5F59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Rank and ranking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CC909-D60D-4706-BB12-BBE229E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53432-9EBD-4829-B79B-D33F109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Career win-rate 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F89C0-374C-4610-9828-BECDAC2B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F635A-D791-4D96-A07A-57181340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28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Recent form: last 5, 10, and 25 matches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93E17-3C72-47F0-A270-3643EF50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Match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1CD9B-5C25-43B0-BBF5-489E62D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811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D3EC0-5874-41AE-A460-9A0F414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811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Surface and event level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444AE-D21C-49D4-B7A8-90DA2788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6F4E1-E436-4589-8858-527A7326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050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Round, best-of, and draw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AD158-8998-4980-B97D-56042D6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28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2E0A2-F67D-4F2F-BD61-EA0F96CA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28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Age, height, and handedness differences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8E98E-1D9F-4D07-877C-4DE7FE83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85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Prior matchup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EA8EF-3748-4588-BFE4-53554DB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811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28DFC-8C59-4B48-A4F9-CF6FCDA4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811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Surface-specific win rates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2FC02-EABF-4465-B62D-9E66CAB1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05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FDFAA-2231-4F82-ABDB-9B479037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050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Head-to-head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669A3-0583-4741-9008-A8682E4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28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73ABB-4DC0-46E5-ADE0-9D09B2A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Recent match activity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5B91F-5630-4562-B14B-7497D0D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C3A53-0423-4A11-A544-C3B43393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Cleaning and safeguards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F169F-AF2E-4E83-87BB-C0AFBF8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9A94C-4C43-4A8E-A5AE-31A567FF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Combine and standardize annual files; remove unusable or duplicate rows.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99CA50-528E-4B69-8C20-9A4BD22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DF277A-0893-4D08-970A-41AC40E3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Impute missing values and encode categories inside each model pipeline.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0D5E5-F7F1-4972-99B6-E9F0A9C9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882595-91A1-4362-8CA8-BC907C93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only past information; apply a 14-day gap because exact match dates are unavailable.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1F812-8231-44E5-B860-2B054008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Current-match outcome, score, duration, and serve statistics are excluded from the inputs.</a:t>
            </a:r>
          </a:p>
        </p:txBody>
      </p:sp>
    </p:spTree>
    <p:extLst>
      <p:ext uri="{BB962C8B-B14F-4D97-AF65-F5344CB8AC3E}">
        <p14:creationId xmlns:p14="http://schemas.microsoft.com/office/powerpoint/2010/main" val="528565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54319D-C192-4A00-9484-F631C07D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8D807-C80E-477C-9B94-7A1B82D8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Algorithms and hyperparameter 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0DB77-D912-4C41-8598-085B4EB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2E957-A1A3-49C3-8F3A-6C8E4BA8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C728C-0B71-4637-A182-AB569B9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Chronological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125E2-A0B0-45B6-BA82-2260DC5E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Fit 1991–2021  →  choose settings on 2022  →  refit through 2023  →  evaluate once on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5B4CD-1BF9-4FEB-9A7B-F0258341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FDA2B-5844-42BD-A9B2-5977B42A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E8390-D1BB-454A-9EC5-91FC563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390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A282B-CAE4-4203-BC86-B4C5FD58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Settings searched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A7FEB-F5F6-472C-9290-F8D8A26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C40BB-5C1D-4E1F-946D-96E1A630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setting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4035A-A441-4293-95C1-4911E413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DB3AB-868D-4DFE-B97F-C3D742A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2022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068A-DDC5-452E-B1BB-6128926A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FB5B7-8ACC-4D91-A348-AAA56EBA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Logistic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64070-15E6-4BDB-BA39-C119CD8F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5BFF5-B4BF-418B-A9E4-A844785B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C: 0.01, 0.1, 1,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19EC8-C41D-42E4-BB73-159455BE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1D360-E88B-4A05-A8CC-2CF4E1F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5073C-5710-4F45-A2BF-4A237C6D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6E218-C360-41B5-870E-65419EE9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66.04%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43B17-0543-4E7F-9739-97EFBC69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02E58-EC14-445A-BE31-4520DCB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Linear SVM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D13FA8-D6DB-459C-B510-E08A6316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55D2E-5F07-4D7B-805F-8475A34E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194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C: 0.01, 0.1, 1,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5B8C5-097E-4F5C-B661-1D2A2320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82A8A-0CCC-423F-89A7-70BA0B95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0B646-CE63-41E5-8C4F-DEC879B9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528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5BD82-2B24-4DA1-B385-3707EEC2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194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65.89%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2C2D1D-FDF7-4DC4-9082-D9E84C5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D4E4C2-02B9-4B47-9803-BBB9A12B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C42081-6E89-4B3D-87F4-49A6E247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BA4CBD-2016-4E99-BD05-57DC1B9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Depth: None/20; leaf: 1/3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F06D12-F3C8-4AA2-92D4-0EF27D51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67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45354F-6C02-4844-9D2D-DA29F9A1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Depth 20; leaf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D6C953-FCC6-4253-B83E-3AC55BF8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671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F1F6B0-C92E-4257-AF82-08F8E141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33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66.37%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5745EF-5911-40A1-A14E-07194D29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Random forest: 200 trees, sqrt feature sampling. Preprocessing is fitted on training data only.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188DA5-08BF-40AA-8CCC-86B3E01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The 2024 test season was not used to select hyperparameters.</a:t>
            </a:r>
          </a:p>
        </p:txBody>
      </p:sp>
    </p:spTree>
    <p:extLst>
      <p:ext uri="{BB962C8B-B14F-4D97-AF65-F5344CB8AC3E}">
        <p14:creationId xmlns:p14="http://schemas.microsoft.com/office/powerpoint/2010/main" val="162372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5F70AE8-2491-4C86-9F71-D1B467AF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32309-5D5D-4CB8-B49D-C48885F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2024 held-out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FA0B1-BED6-4AB0-A31E-F279E36F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43E9F-CF3C-40D4-A0BA-72855311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3BA10-7865-4A18-9877-D5B657F3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All three models use the same 2,816-match test season. Player A win is the positive class.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3B55E-46A4-4C66-A9C4-7134B79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5C332-8308-4DDB-A2CC-B8712D8F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207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1C2AF-E4FC-4429-9398-01361CD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314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7DDBA-5E3E-43E8-89BC-3A80558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620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E7A0B-2E45-4640-81CF-6C48A874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14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AB0E0-C503-4ADA-87B6-3CCFD83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620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A728D-F1DA-42B4-A2E0-CE00EAE7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314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028C1-812D-4DEE-8FAC-D377161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620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FC9F3-D8AB-45A3-B951-AB8168F1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14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4403E-E043-406F-9D9B-23571A7A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620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1D43C-A78F-49B7-B587-56743CA2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3144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22DAD-132B-4FD5-931A-DC9608A0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6207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38A00-D6BF-480C-86F3-8D128F39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314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72FF8-3FAD-451C-8DC8-0B314FB4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620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ROC-AUC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6023E-505F-4FE4-BED7-31F6004B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AC4ED-CFD7-44AA-A51F-C3ECF98E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Logistic regression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060FA-4355-491B-99FF-8347D63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1450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C0B8A-7606-4177-94DF-E3E7FD15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2A497-5207-4D29-A23B-6469C0C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F4D84-2A00-4D97-9297-C277DEC0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65.34%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440E9-0F0E-452A-A140-A6E17B0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1450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CC703-4B83-4C09-A326-88D9E993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65.40%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EE403-87D8-4C90-A597-B26C9547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71450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757BA-8FCC-4B0F-B2BA-AC41265C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6212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63.04%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923DE-A7A5-4727-B87F-A528CECA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14500"/>
            <a:ext cx="876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36D50-D1F4-46BC-9E4A-8D28AA8C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6212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0.642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A2BF7-5746-40EA-BD80-87FCC2C2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71450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BC1ED-0B3A-4E6C-9A7D-DE04220C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72D6A3-3A9C-44B4-87AD-65C31A83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88EBD1-9C74-4108-ACEA-9DF1AE7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Linear SVM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B18558-81DA-4A11-9F3F-723319AC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4312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6C830A-8740-41F9-8EC0-5EE0C35E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AC1DC2-DB8C-4385-8D1F-C43B354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4312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87C86E-6275-4714-9B19-8801F93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65.23%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526F58-C965-4C0A-A5AA-3F71BE88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4312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3DE4DC-4EFB-406F-AF13-EC01730F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65.27%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50B989-C58D-4666-8F9C-75425147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43125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CB93E5-189E-4C29-96B5-2D39B71E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907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62.97%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24BA75-7FED-49D3-824C-EAEBC1C8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43125"/>
            <a:ext cx="876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F2246C-C1DA-4C95-A8A4-EA9E98AC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0.641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84FC06-CCE5-43FD-A8CF-F704CBA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43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74F0EB-CBDB-4DF1-BB63-F777351B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7D496E-366E-4FF6-9FA7-6F3597AB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431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6DB630-8E38-4769-94A3-1604A31B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574007-481F-4263-9701-58DB5966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71750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DD1ACD-0227-4CF8-9131-EB10671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depth 20; leaf 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C72681-6BF5-4FED-B01E-E49727A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AC2AFD-A6A7-49AB-ACE4-B5C94666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64.45%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7C0995-7684-4843-83F2-D298760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7175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743B89-427B-4266-81C7-E96814AA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64.56%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FD92E1-68C8-4935-B50E-9E501FA0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71750"/>
            <a:ext cx="1066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F19638-AD8F-4566-89AD-C7A8FA41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19375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61.82%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B0BA39-C29C-4EB9-82E4-43C69C01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71750"/>
            <a:ext cx="876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5C068C-CB0B-477B-B7DC-5C61F34D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1937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0.632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2EDFA0-2751-4FE5-BE80-73EA98AB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717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173118-9F98-4B04-A796-73D107B8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19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0.711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51A76B-0244-48DB-8043-15E1791C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Accuracy by model (%)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D02A4C-424E-4950-AD72-D36C3C78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C6841D-26ED-482C-AE9C-9865F92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53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54C479-4058-4861-9B02-E5D6E65F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9957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7E2091-2DFF-470F-A904-E073F34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95182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7017FC-8120-4E9C-AB6C-4B694874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42064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260C7A-63F7-456E-A4A3-156631A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37289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395BAB-529E-4D80-B7B5-426D5354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4171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40A042-F549-4586-8F09-606DF73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9396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FA3034-5694-447C-9EBE-1FEF287D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D8D722-F8F1-4F07-82EC-2FA8BA1E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6FADCF-9FCD-42D4-A6CF-749F5D79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35214"/>
            <a:ext cx="1162050" cy="1822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E86F18-9F81-432E-953E-684C60B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87564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65.34%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979157-7622-4663-8B84-835389A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Logistic regression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7383E5-B096-47D1-9D29-534592BF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38282"/>
            <a:ext cx="1162050" cy="1819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563FB6-FDCA-4769-B830-516B420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90632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65.23%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AE991C4-617F-4367-8B39-35663430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Linear SVM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46FB5-3856-4862-90B6-C08615FB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60040"/>
            <a:ext cx="1162050" cy="1797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9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8A5D05E-3A95-4CC7-9ECF-269477D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239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64.45%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EC941A-2EF4-452F-B242-6C010F43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9AE471-90BD-4540-A876-1F53263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879009"/>
            <a:ext cx="1162050" cy="1778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9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F037CC1-9F76-49AE-BFE0-627FE411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31359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63.77%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8CAC32-ACBA-4008-B253-EBD036C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245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Rank baseline*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B05E54-90B3-4CE9-B827-14481357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*Rank baseline: 63.77% on 2,810 matches with both rankings available; model table metrics use all 2,816 test matches.</a:t>
            </a:r>
          </a:p>
        </p:txBody>
      </p:sp>
    </p:spTree>
    <p:extLst>
      <p:ext uri="{BB962C8B-B14F-4D97-AF65-F5344CB8AC3E}">
        <p14:creationId xmlns:p14="http://schemas.microsoft.com/office/powerpoint/2010/main" val="1954159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08950-FDB0-4777-93F4-6466AE5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2CF01-67A3-41B3-9CB6-8D36398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the results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E704F-0516-4C74-9F1D-7671F387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0FDC0-51BD-4E40-AAA5-B3AE095A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106CB-06C6-452C-9235-B16B2C5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20FC3-632C-4336-B391-EF50C48A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05F99-1003-489F-8731-4E3701C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Logistic regression had the highest 2024 accuracy (65.34%) and ROC-AUC (0.715).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A9201-7201-4180-8E60-166066D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DD6E0-068D-4B12-BC3F-0C614D6D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Its precision was 65.40%, recall 63.04%, and F1 0.642 for Player A wins.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C64E6-EE51-4FA5-8B67-096B5DA3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0C898-EDD1-4526-BD1A-4AD3E5DB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best 2022 validation accuracy belonged to Random Forest (66.37%).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4EC7A-BBD0-409D-9E7B-008424D1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54290-68A5-45B8-8D83-F1B82BEC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2024 results are a held-out historical test, not future match forecasts.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01E03-E12A-47E9-9086-614D0DF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37596-3B3D-41F4-A114-7C3EFD26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EA134-711D-40C7-BA4C-93CC6188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Open tennis_match_prediction.ipynb, select the project Python environment, and run the cells in order. The final results cell displays the metrics table and plots.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CA582-9A1A-4309-B09D-A6543DFC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8A8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8A8D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023D6-2660-4072-843D-4CC23A37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main-tour data only; no exact match dates, injuries, or betting odds. The 14-day history gap can make recent-form features less current.</a:t>
            </a:r>
          </a:p>
        </p:txBody>
      </p:sp>
    </p:spTree>
    <p:extLst>
      <p:ext uri="{BB962C8B-B14F-4D97-AF65-F5344CB8AC3E}">
        <p14:creationId xmlns:p14="http://schemas.microsoft.com/office/powerpoint/2010/main" val="1935889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0E5C6-8595-44F8-825E-03D72308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9A4C3-4370-4B13-BA2E-BC00B157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2024 test accuracy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B194A-C7FB-412C-8FDC-89C28976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8D8C5-D32F-4A3E-9E69-8391B383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2F69C-05ED-4D5C-8213-0AC603F97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55bac8b8c474d"/>
          <a:stretch xmlns:a="http://schemas.openxmlformats.org/drawingml/2006/main"/>
        </p:blipFill>
        <p:spPr>
          <a:xfrm xmlns:a="http://schemas.openxmlformats.org/drawingml/2006/main">
            <a:off x="2094280" y="1066800"/>
            <a:ext cx="8003439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DD95F-E545-45BE-85BC-2D6349C3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The rank baseline is evaluated on matches where both player rankings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683284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EC3A7-457A-438F-8947-D999238D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8DB49-8FC9-46C5-8B1D-E9928A7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2024 test confusion matrices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C2CBC-1C3E-464F-B2B0-4BA31EC3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6ABA8-A8CC-443D-BCC1-50A70FF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2B746-BB79-462C-87B6-78FAB78238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620fe12904b50"/>
          <a:stretch xmlns:a="http://schemas.openxmlformats.org/drawingml/2006/main"/>
        </p:blipFill>
        <p:spPr>
          <a:xfrm xmlns:a="http://schemas.openxmlformats.org/drawingml/2006/main">
            <a:off x="666750" y="1501477"/>
            <a:ext cx="10858500" cy="40836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9DFF-EE56-4B01-B76B-B2AA012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Rows show actual outcomes and columns show predictions; 0 = Player B won and 1 = Player A won.</a:t>
            </a:r>
          </a:p>
        </p:txBody>
      </p:sp>
    </p:spTree>
    <p:extLst>
      <p:ext uri="{BB962C8B-B14F-4D97-AF65-F5344CB8AC3E}">
        <p14:creationId xmlns:p14="http://schemas.microsoft.com/office/powerpoint/2010/main" val="2006013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96802-2A74-409F-B42D-3EAFF089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19B2D-A346-4515-B927-2311CD4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Hyperparameter tuning on 2022 validation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A0690-03DD-4EDA-87B7-5F9F032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E5F7B-A0F1-41E6-A125-60B2B210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5F7A7-F10B-402B-8E05-4A5BDAD307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0f37aac894568"/>
          <a:stretch xmlns:a="http://schemas.openxmlformats.org/drawingml/2006/main"/>
        </p:blipFill>
        <p:spPr>
          <a:xfrm xmlns:a="http://schemas.openxmlformats.org/drawingml/2006/main">
            <a:off x="666750" y="1660704"/>
            <a:ext cx="10858500" cy="37651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1B573-6F81-4F28-A2F7-288F6B6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Settings were selected using 2022 validation accuracy; 2024 remained held out for final evaluation.</a:t>
            </a:r>
          </a:p>
        </p:txBody>
      </p:sp>
    </p:spTree>
    <p:extLst>
      <p:ext uri="{BB962C8B-B14F-4D97-AF65-F5344CB8AC3E}">
        <p14:creationId xmlns:p14="http://schemas.microsoft.com/office/powerpoint/2010/main" val="1216824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E7E24-9691-4752-9E75-E84CD791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52F6F-0219-4003-815A-A74C0707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2024 test accuracy by court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E69CC-CD8C-4058-83D0-21698F68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ATP MATCH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1D598-6BA0-4C49-B858-1F194987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78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5B665-C194-43A4-9258-0245F7444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23ba311484dec"/>
          <a:stretch xmlns:a="http://schemas.openxmlformats.org/drawingml/2006/main"/>
        </p:blipFill>
        <p:spPr>
          <a:xfrm xmlns:a="http://schemas.openxmlformats.org/drawingml/2006/main">
            <a:off x="2610556" y="1066800"/>
            <a:ext cx="6970889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23A6-F538-4B0B-A311-7DE5992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6778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788"/>
                </a:solidFill>
                <a:latin typeface="Arial"/>
                <a:ea typeface="Arial"/>
                <a:cs typeface="Arial"/>
              </a:rPr>
              <a:t>These are per-surface results from the same 2024 held-out test season.</a:t>
            </a:r>
          </a:p>
        </p:txBody>
      </p:sp>
    </p:spTree>
    <p:extLst>
      <p:ext uri="{BB962C8B-B14F-4D97-AF65-F5344CB8AC3E}">
        <p14:creationId xmlns:p14="http://schemas.microsoft.com/office/powerpoint/2010/main" val="155830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2026-10-09T03:21:04.2040000Z</dcterms:created>
  <dcterms:modified xsi:type="dcterms:W3CDTF">2026-10-09T03:21:04.2040000Z</dcterms:modified>
</coreProperties>
</file>