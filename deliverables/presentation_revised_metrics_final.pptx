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6c08bc2704616" /><Relationship Type="http://schemas.openxmlformats.org/officeDocument/2006/relationships/extended-properties" Target="/docProps/app.xml" Id="R1005a28f5ac44e88" /><Relationship Type="http://schemas.openxmlformats.org/officeDocument/2006/relationships/officeDocument" Target="/ppt/presentation.xml" Id="R1864fcb59e51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f30b74fc7e4305"/>
  </p:sldMasterIdLst>
  <p:notesMasterIdLst>
    <p:notesMasterId xmlns:r="http://schemas.openxmlformats.org/officeDocument/2006/relationships" r:id="R5f9c2a7d59ae46bf"/>
  </p:notesMasterIdLst>
  <p:sldIdLst>
    <p:sldId xmlns:r="http://schemas.openxmlformats.org/officeDocument/2006/relationships" id="256" r:id="R96317a207953470e"/>
    <p:sldId xmlns:r="http://schemas.openxmlformats.org/officeDocument/2006/relationships" id="257" r:id="R92752b3f85a94ee6"/>
    <p:sldId xmlns:r="http://schemas.openxmlformats.org/officeDocument/2006/relationships" id="258" r:id="R3a57848c2adb4e4b"/>
    <p:sldId xmlns:r="http://schemas.openxmlformats.org/officeDocument/2006/relationships" id="259" r:id="R318568ca12b4414c"/>
    <p:sldId xmlns:r="http://schemas.openxmlformats.org/officeDocument/2006/relationships" id="260" r:id="R1b79444cf5ac4d91"/>
    <p:sldId xmlns:r="http://schemas.openxmlformats.org/officeDocument/2006/relationships" id="261" r:id="R330c8b0a2ffc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bb13d4dd0749c5" /><Relationship Type="http://schemas.openxmlformats.org/officeDocument/2006/relationships/slideMaster" Target="/ppt/slideMasters/slideMaster1.xml" Id="Rf3f30b74fc7e4305" /><Relationship Type="http://schemas.openxmlformats.org/officeDocument/2006/relationships/notesMaster" Target="/ppt/notesMasters/notesMaster1.xml" Id="R5f9c2a7d59ae46bf" /><Relationship Type="http://schemas.openxmlformats.org/officeDocument/2006/relationships/presProps" Target="/ppt/presProps.xml" Id="R4500938cb043483b" /><Relationship Type="http://schemas.openxmlformats.org/officeDocument/2006/relationships/tableStyles" Target="/ppt/tableStyles.xml" Id="R417f6d35b16740f5" /><Relationship Type="http://schemas.openxmlformats.org/officeDocument/2006/relationships/slide" Target="/ppt/slides/slide1.xml" Id="R96317a207953470e" /><Relationship Type="http://schemas.openxmlformats.org/officeDocument/2006/relationships/slide" Target="/ppt/slides/slide2.xml" Id="R92752b3f85a94ee6" /><Relationship Type="http://schemas.openxmlformats.org/officeDocument/2006/relationships/slide" Target="/ppt/slides/slide3.xml" Id="R3a57848c2adb4e4b" /><Relationship Type="http://schemas.openxmlformats.org/officeDocument/2006/relationships/slide" Target="/ppt/slides/slide4.xml" Id="R318568ca12b4414c" /><Relationship Type="http://schemas.openxmlformats.org/officeDocument/2006/relationships/slide" Target="/ppt/slides/slide5.xml" Id="R1b79444cf5ac4d91" /><Relationship Type="http://schemas.openxmlformats.org/officeDocument/2006/relationships/slide" Target="/ppt/slides/slide6.xml" Id="R330c8b0a2ffc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e9c3ba8e39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4e31f280264ced" /><Relationship Type="http://schemas.openxmlformats.org/officeDocument/2006/relationships/notesMaster" Target="/ppt/notesMasters/notesMaster1.xml" Id="R44f751a2e26a49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3974708a64968" /><Relationship Type="http://schemas.openxmlformats.org/officeDocument/2006/relationships/notesMaster" Target="/ppt/notesMasters/notesMaster1.xml" Id="R92ed9e4611f3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93b9b79784452" /><Relationship Type="http://schemas.openxmlformats.org/officeDocument/2006/relationships/notesMaster" Target="/ppt/notesMasters/notesMaster1.xml" Id="Rf7f2c9ac0a804e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d7ab7c4964051" /><Relationship Type="http://schemas.openxmlformats.org/officeDocument/2006/relationships/notesMaster" Target="/ppt/notesMasters/notesMaster1.xml" Id="R96e624a570f9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7a944e07c24367" /><Relationship Type="http://schemas.openxmlformats.org/officeDocument/2006/relationships/notesMaster" Target="/ppt/notesMasters/notesMaster1.xml" Id="Rc93f5e2d9090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d0e260773946d4" /><Relationship Type="http://schemas.openxmlformats.org/officeDocument/2006/relationships/notesMaster" Target="/ppt/notesMasters/notesMaster1.xml" Id="R85baa68bed1d42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a3477bbfe4d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8fb6b757446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f7bb0597d43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bf22c41f343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e19255f7f48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cf5e0456644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54CBD7-4C35-431C-8B0C-F9BEDA093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02A7F5-8485-4F4C-AE48-8E0E0E4857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C1AB4C-D4E2-4FB4-9795-71789151B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748BC6-963F-48DB-9A1B-72A38AC83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A21898-CDB6-4A70-BC52-E23D35A568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680D96-4712-40C3-8907-CF9BCD506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6336E5-F85E-4DFC-8D8F-7065FB326C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5143BA-54C4-4C90-9EA8-7C60E4E3FA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92179E-F788-4E7E-B1BD-D5DB641E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01F56E-4D79-499E-836F-DF3DF2F96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cf14e68ed4753" /><Relationship Type="http://schemas.openxmlformats.org/officeDocument/2006/relationships/slideLayout" Target="/ppt/slideLayouts/slideLayout1.xml" Id="R5af1789c9609405f" /><Relationship Type="http://schemas.openxmlformats.org/officeDocument/2006/relationships/slideLayout" Target="/ppt/slideLayouts/slideLayout2.xml" Id="R2bcf60f369f648b4" /><Relationship Type="http://schemas.openxmlformats.org/officeDocument/2006/relationships/slideLayout" Target="/ppt/slideLayouts/slideLayout3.xml" Id="R9ddc6b77f2b2495f" /><Relationship Type="http://schemas.openxmlformats.org/officeDocument/2006/relationships/slideLayout" Target="/ppt/slideLayouts/slideLayout4.xml" Id="R1c67bf36a6144e57" /><Relationship Type="http://schemas.openxmlformats.org/officeDocument/2006/relationships/slideLayout" Target="/ppt/slideLayouts/slideLayout5.xml" Id="Rd41762b0f034408a" /><Relationship Type="http://schemas.openxmlformats.org/officeDocument/2006/relationships/slideLayout" Target="/ppt/slideLayouts/slideLayout6.xml" Id="Rd2ab630368b240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1789c9609405f"/>
    <p:sldLayoutId xmlns:r="http://schemas.openxmlformats.org/officeDocument/2006/relationships" id="2147483650" r:id="R2bcf60f369f648b4"/>
    <p:sldLayoutId xmlns:r="http://schemas.openxmlformats.org/officeDocument/2006/relationships" id="2147483651" r:id="R9ddc6b77f2b2495f"/>
    <p:sldLayoutId xmlns:r="http://schemas.openxmlformats.org/officeDocument/2006/relationships" id="2147483652" r:id="R1c67bf36a6144e57"/>
    <p:sldLayoutId xmlns:r="http://schemas.openxmlformats.org/officeDocument/2006/relationships" id="2147483653" r:id="Rd41762b0f034408a"/>
    <p:sldLayoutId xmlns:r="http://schemas.openxmlformats.org/officeDocument/2006/relationships" id="2147483654" r:id="Rd2ab630368b240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5e1b509a64ed9" /><Relationship Type="http://schemas.openxmlformats.org/officeDocument/2006/relationships/notesSlide" Target="/ppt/notesSlides/notesSlide1.xml" Id="Rbc4edc783fef40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49a2b0a174ddf" /><Relationship Type="http://schemas.openxmlformats.org/officeDocument/2006/relationships/notesSlide" Target="/ppt/notesSlides/notesSlide2.xml" Id="Rec7b93a068e14f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05b3636ed4ae0" /><Relationship Type="http://schemas.openxmlformats.org/officeDocument/2006/relationships/notesSlide" Target="/ppt/notesSlides/notesSlide3.xml" Id="Rad5a0b7fe10c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6d2dfb8494b8f" /><Relationship Type="http://schemas.openxmlformats.org/officeDocument/2006/relationships/notesSlide" Target="/ppt/notesSlides/notesSlide4.xml" Id="R5a82a072e07e4a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f2da5d0064a23" /><Relationship Type="http://schemas.openxmlformats.org/officeDocument/2006/relationships/notesSlide" Target="/ppt/notesSlides/notesSlide5.xml" Id="Rc62c58cb361142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5784d5652495a" /><Relationship Type="http://schemas.openxmlformats.org/officeDocument/2006/relationships/notesSlide" Target="/ppt/notesSlides/notesSlide6.xml" Id="R4eb78f0cb20645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A11AD-E05D-48CE-A727-F888128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143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93439-5BC1-4E0B-BDBF-0299274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7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0CE"/>
                </a:solidFill>
                <a:latin typeface="Arial"/>
                <a:ea typeface="Arial"/>
                <a:cs typeface="Arial"/>
              </a:rPr>
              <a:t>MACHINE LEARNING MINI-PROJECT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81C34-5EBC-4B75-A516-CB1E2DD9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952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ATP Tennis Match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Winner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812B2-A888-47FB-B614-1B80AA4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D9E6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9E6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6EE"/>
                </a:solidFill>
                <a:latin typeface="Arial"/>
                <a:ea typeface="Arial"/>
                <a:cs typeface="Arial"/>
              </a:rPr>
              <a:t>Historical evaluation on the 2024 ATP season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1175B-F294-4A75-BE10-B175BAB7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8C8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8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4"/>
                </a:solidFill>
                <a:latin typeface="Arial"/>
                <a:ea typeface="Arial"/>
                <a:cs typeface="Arial"/>
              </a:rPr>
              <a:t>Pre-match features • chronological validation • model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0AE64-ABD7-484F-A2C8-984FB142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0CE"/>
                </a:solidFill>
                <a:latin typeface="Arial"/>
                <a:ea typeface="Arial"/>
                <a:cs typeface="Arial"/>
              </a:rPr>
              <a:t>Results include accuracy, precision, recall, F1, and ROC-AUC</a:t>
            </a:r>
          </a:p>
        </p:txBody>
      </p:sp>
    </p:spTree>
    <p:extLst>
      <p:ext uri="{BB962C8B-B14F-4D97-AF65-F5344CB8AC3E}">
        <p14:creationId xmlns:p14="http://schemas.microsoft.com/office/powerpoint/2010/main" val="1823679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43D38-8359-430F-9685-D7FFEF92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132EF-16A9-48C3-BA5D-3E0294B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Problem and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C436D-12DA-4B91-B5A5-6B5E2B9D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1C59D-2831-4A3F-AD1D-1DBF3A3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622FA-5D1B-4523-8D8C-109D97C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Prediction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F2D66-8FE1-4E7E-A230-A7D4D9CF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Can information available before a match predict which ATP singles player wins?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B2818-83A6-41A4-86EF-6BFBE9E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Dataset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6CAA7-7C73-4EFB-82E3-F7CE5954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1991–2024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E5D6A-4C69-4AB8-A9DB-2E3274A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335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season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34532-CA7E-4AD1-90E8-B04B285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108,375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74418-2F8D-4BA4-846D-7D342A9B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cleaned match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09D7F-B3BD-4146-B850-EEA0C2D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98,530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5684B-FD10-4A4A-83DC-ED7AB16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prediction rows after Davis Cup exclusion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E4EEF-C325-4023-939C-E366305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2D358-C5ED-4245-AE1C-8911E5E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One row represents one match. Player A is the lower numeric player ID. The target is 1 when Player A wins and 0 when Player B wins.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9C2B1-6F89-4F58-80B7-E119D623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Source: Jeff Sackmann / Tennis Abstract ATP match data mirror. License: CC BY-NC-SA 4.0.</a:t>
            </a:r>
          </a:p>
        </p:txBody>
      </p:sp>
    </p:spTree>
    <p:extLst>
      <p:ext uri="{BB962C8B-B14F-4D97-AF65-F5344CB8AC3E}">
        <p14:creationId xmlns:p14="http://schemas.microsoft.com/office/powerpoint/2010/main" val="492190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FB2F67-72DC-44DB-8A15-38929726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80BFD-CC8D-4F91-B784-37EAD931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Pre-match features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B4407-0819-4F55-ABF7-B3591799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C3507-2748-4CC3-BBAF-CFA0973C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EF645-3466-453B-A80C-C3BBC9F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Player strength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FF26E-F2B1-46BE-87EE-51300FE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76B24-5B13-4B01-858D-4E8AE65B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Rank and ranking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A9F9D-2E29-4F02-83EB-C97A676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959D0-1227-4CFD-8A0E-BA94EE56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Career win-rate 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CD470-2508-4F06-8FFA-5AADE5AA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03CEF-FF77-429D-BF82-B808F0B7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28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Recent form: last 5, 10, and 25 matches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FEDB4-93C8-419B-95CC-9F206125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Match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BB660-6364-4729-82C5-68454082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811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91CCF-A52B-4FC1-83CC-44453A38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811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Surface and event level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53C51-7543-4E84-882C-A3E60665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D6419-B941-4BFF-9621-01F6FF7C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050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Round, best-of, and draw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ADA11-B8CD-445E-93FB-5632435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28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9587C-1665-4857-8A3E-3A4D628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28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Age, height, and handedness differences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747AE-D11E-4857-A3B4-CDC84991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85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Prior matchup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6459C-A097-4CE3-B84F-13D35614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811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AB468-C69C-4C7C-9916-14E930E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811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Surface-specific win rates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B29D3-3E91-42F4-BE56-2274A0C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FC7AE-AD5E-4D4E-B5C3-CDB2974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050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Head-to-head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6D994-95D8-4C25-B1D8-5CDD5C42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28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0E901-171F-4017-998A-231552C3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Recent match activity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E534A-96AD-4EC3-9355-72A52A0E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93BB0-CE31-4141-8470-822726E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Cleaning and safeguards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C130C-4819-43A3-937E-4D2002BD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8A9864-C510-48F8-9625-4FFFA8A2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Combine and standardize annual files; remove unusable or duplicate rows.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CFF722-186D-4E5D-9E2C-0CFB5331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16501-9D15-454C-B044-478462EA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Impute missing values and encode categories inside each model pipeline.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DB81E3-9FE1-4268-AFE5-462A689C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373CAD-B944-4AC1-BF4B-2F022F7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only past information; apply a 14-day gap because exact match dates are unavailable.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9B97CE-7798-491E-8249-18C40B5E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Current-match outcome, score, duration, and serve statistics are excluded from the inputs.</a:t>
            </a:r>
          </a:p>
        </p:txBody>
      </p:sp>
    </p:spTree>
    <p:extLst>
      <p:ext uri="{BB962C8B-B14F-4D97-AF65-F5344CB8AC3E}">
        <p14:creationId xmlns:p14="http://schemas.microsoft.com/office/powerpoint/2010/main" val="1163631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47873F-5042-46F4-9A2D-7CEC7477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311FA-1DD5-46B4-BAFD-89F84041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Algorithms and hyperparameter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1315F-E5F3-42B6-A279-D5C0085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CFC14-F276-4C72-AF1C-4DEC6BB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85B56-E2A4-44F7-8F93-7A7E8D77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Chronological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C9B93-9385-482B-87A0-CFE7E41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Fit 1991–2021  →  choose settings on 2022  →  refit through 2023  →  evaluate once on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0500F-2C55-4C6B-945C-6936915D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22704-62AC-4F07-A6C6-91E1F9D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712BA-5907-431E-B94A-9E47C77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24D8B-53AC-4391-97F9-C1550C73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Settings searched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EC29E-76EB-4A7D-B768-6B26D25E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686A0-D064-4F9E-90FB-6827BDF3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setting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1EF81-89ED-4BC1-A44E-64DD6B71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F375B-C69A-4FD8-870C-D1998287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2022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C760D-4A9D-4603-8445-3A7BF8C4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57148-404A-4D8B-9E3D-0B8A9137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Logistic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0F0E1-84DD-414E-8362-FA244C6E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7AA11-4197-44C4-8326-4A90B7D5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C: 0.01, 0.1, 1,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2CF9B-52EE-4506-815A-7855CA55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34E27-9C18-4115-AEA9-14B72294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097FE9-A25D-44E1-9ED9-271F0E52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52185-96D8-427A-A6FE-86E12FEB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66.04%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693DB-604F-4DD1-B846-00EA3E7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DBC93-BA7F-46D2-B2ED-52142CB4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Linear SVM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6EFA9-4169-46A3-9090-158F30E3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9E99D-F1CF-4C21-9EC9-913BE1C0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194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C: 0.01, 0.1, 1,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4AF61-EB52-4306-B42D-36AD7004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CADD9-B8F7-448B-8544-CD210621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BDC43-0547-4563-8864-A8193DD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528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C900A-2A4E-403B-A269-97CF4A43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194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65.89%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ECB24-7FFF-4744-8A76-22F06D53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F8E00A-1EB6-4153-A286-22B7A94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D88AC7-25E5-417C-9905-BC4258FB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F9CFD1-7F2D-4635-8930-353BCF22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Depth: None/20; leaf: 1/3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4FA501-C9DC-4DC9-9543-7B1BE30E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67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ACA88-BCB7-4C2B-9FD0-930E031C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Depth 20; leaf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51684-724D-406A-A882-16C1F364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671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BC1181-B98B-4E43-9C41-BC25864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33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66.37%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C14246-C44D-4416-9AC7-D5DA568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Random forest: 200 trees, sqrt feature sampling. Preprocessing is fitted on training data only.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F45B28-2545-459C-A557-2AE867D8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The 2024 test season was not used to select hyperparameters.</a:t>
            </a:r>
          </a:p>
        </p:txBody>
      </p:sp>
    </p:spTree>
    <p:extLst>
      <p:ext uri="{BB962C8B-B14F-4D97-AF65-F5344CB8AC3E}">
        <p14:creationId xmlns:p14="http://schemas.microsoft.com/office/powerpoint/2010/main" val="1400965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49B2C0-32A0-4840-B93B-DBB1A347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EC8C8-BF55-40B2-9EB8-F9F8B5B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2024 held-out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AD10E-D565-451B-8875-8637FCF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3045B-4C44-4068-87ED-213FE184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3E209-8134-44B9-BA20-A50CAF98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All three models use the same 2,816-match test season. Player A win is the positive class.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F00DF-B97C-40B1-8104-C7F94EE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D3387-67EE-432B-9084-67B25F7C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4E2D8-BA46-4BBE-9AD8-979C8A78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314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81D31-BC0B-4198-A37C-3A1AA92A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620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5851E-69FA-46E4-9EE7-9E4E4E80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14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C147D-D0DA-43C6-A817-6881492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620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8B403-6509-47EE-B771-392E0E37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314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A132B-CF16-435E-B89B-62F47693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620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D0CCD-58CB-4F12-B59F-53A3D512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14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A8C04-90E0-469C-9E73-21AE0442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3CC59-2F0D-4352-BF30-00F00E33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3144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D8912-1A9C-465D-A9EC-299BAB8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6207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4C113-95E2-4E0D-ADC6-17DF53DF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314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0087A-099B-4609-8243-51BB108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620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ROC-AUC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15460-F50B-46E6-A21E-D6ADFE8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B8B97-2978-4D97-A3A2-748758A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Logistic regression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A80D7-EAB4-4A4C-85D9-E6F9432F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1450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3E085-AA93-4D55-9546-BC346B05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A2FC8-A985-4EEB-A0FB-00E41C82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F5195-22EA-487C-B3E0-4F57E53E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65.34%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E3DA7-2A14-4BE3-A492-38D8D17F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1450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130431-7F72-4732-B183-EAE3F5D9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65.40%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3D24D-CAE4-4442-864C-F858B557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71450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A6959E-6991-410F-8D8C-389734CB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6212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63.04%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1D57E0-8526-4F2B-9305-71212D95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14500"/>
            <a:ext cx="876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ACA9A-A761-49E9-BF2F-2115A04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6212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0.642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B51F9-786F-4DA3-823E-1F5FB8D3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71450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BB7C16-19F1-4C07-9E3A-467EA092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C8D2D0-FDEF-4FE4-A0DB-DB9F1F48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B5F9C6-75F5-4CE6-A15F-D16C292A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Linear SVM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3ABE1-1C27-49EE-8344-D0169448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4312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77409C-1631-43D0-A26D-4CABBF55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AAB865-2672-4381-B280-8879169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4312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409E92-324B-40FE-A296-AA982C50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65.23%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A4F3EB-7EC0-4943-97AF-ABEED69F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4312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08534F-D404-4176-9163-ED596E8B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65.27%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4295C0-FF32-49E9-A4DD-CEA6E1C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4312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64FE91-E35E-4F57-AA2D-197026B5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62.97%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82F06E-DE4D-4826-9E57-80D6E3E5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43125"/>
            <a:ext cx="876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25FAC6-B4CA-4D79-8945-3D94F87E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0.641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573435-BF37-4827-A278-6903E4B3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43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C86D42-5F03-4754-B054-9019FD59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2277A8-A2F0-4215-9C90-13B587A0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3A7E48-1705-4532-B78C-68CE161E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E010AE-E17F-4202-89F2-53FE150F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717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74F4FA-ABB4-4BA4-91FE-F9003A26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depth 20; leaf 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46615E-2122-493F-AA2E-C1215397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8AC298-6CDA-4F93-BBBF-A1071523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64.45%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95937C-A65B-4A51-995F-85F6EC47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7175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9C1411-84DE-49F0-862A-8CAC986F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64.56%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59DB37-B6E3-4FAD-A102-0605D82B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7175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D497FF-49D0-4EF3-A470-88E3DBC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1937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61.82%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C28956-C6D8-4180-A84B-3AE090E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71750"/>
            <a:ext cx="876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8C1EF7-5710-407F-A045-AD3F0389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1937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0.632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204FB2-FF8A-4327-871B-E1E0EF7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717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B85035-8822-4ABF-907F-C05E6D4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19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0.711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22FEC3-7568-4F09-BC34-AEC01B00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Accuracy by model (%)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E57E27-6285-49A3-B8C7-DB5BCA3F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157811-0F67-467C-AF75-D5444E4B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53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6DA5FC-7309-415B-B67F-0DAFD18D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9957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9A6013-A392-43EE-BD35-59EFCD5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95182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A0B8ED-059F-4903-834B-1439C57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42064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216147-69B2-4DE5-9CEF-7A071E1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37289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C01FD8-5F21-4A62-8366-D4C3CB56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4171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E539C0-C2F2-4C8B-97A9-BBA106A1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9396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B0B0A5-7F2C-4CA1-A9DE-8FDA6940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73C258-0687-4532-B752-C46DD10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DE969E-E312-439C-B9EB-621EA4CB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35214"/>
            <a:ext cx="1162050" cy="1822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35C932-619C-47B8-AD5A-64470C2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87564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65.34%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4B8F804-0862-4B3C-8EE3-30D6500E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Logistic regression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3ED3EDF-699D-4B9C-98FC-F6B8F406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38282"/>
            <a:ext cx="1162050" cy="1819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16513C-5668-4F72-AE9D-82BB6034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90632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65.23%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270E51-D319-416A-885B-CA3113D8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Linear SVM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5C1426D-B4F7-4A36-B811-4DCB5D9A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60040"/>
            <a:ext cx="1162050" cy="1797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B2E0820-2B38-4FEE-A674-9E523592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239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64.45%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373659-896B-41DE-895C-37030EE1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632D2B-4374-47E5-BF03-38F76C5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879009"/>
            <a:ext cx="1162050" cy="1778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2946E79-1C6F-4571-AC6B-C9DB3BE6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31359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63.77%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D66C879-2A61-402A-9154-EA8EE10C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Rank baseline*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EEBF33-778F-4960-97AF-AA7AB0D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*Rank baseline: 63.77% on 2,810 matches with both rankings available; model table metrics use all 2,816 test matches.</a:t>
            </a:r>
          </a:p>
        </p:txBody>
      </p:sp>
    </p:spTree>
    <p:extLst>
      <p:ext uri="{BB962C8B-B14F-4D97-AF65-F5344CB8AC3E}">
        <p14:creationId xmlns:p14="http://schemas.microsoft.com/office/powerpoint/2010/main" val="1919140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7BC58-AA8A-445B-A62E-C33B860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4B8FA-9319-4C7F-BE41-90B9AA75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the results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C9B69-03DA-451E-8D79-FD74DC0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AAB21-9AB4-4C98-B960-6F7613F5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A33FF-9A22-48A5-B9C4-820C913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E3782-B6E1-49C3-9F58-DB149A2D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C457B-EBC5-43AC-98E3-93064FF3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Logistic regression had the highest 2024 accuracy (65.34%) and ROC-AUC (0.715).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D37CB-DFCB-4C06-851D-28A070C6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6614F-996E-46E1-A689-92DC4710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Its precision was 65.40%, recall 63.04%, and F1 0.642 for Player A wins.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C691F-0C49-4A52-9EE4-2A5E155A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20609-F51A-4401-ABD6-A302377A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best 2022 validation accuracy belonged to Random Forest (66.37%).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28B23-81DD-45A5-837C-2FD64C08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DD18C-68EA-4343-8B2F-89F0FC42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2024 results are a held-out historical test, not future match forecasts.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82B4F-8C0B-403E-926C-D2FA07E9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E12A6-7103-40BA-9A6C-97199F4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F4ABE-2329-4096-BB2C-D5B0A73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Open tennis_match_prediction.ipynb, select the project Python environment, and run the cells in order. The final results cell displays the metrics table and plots.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CDC53-5B67-49A9-AF5D-E20A686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3A037-EBC8-434E-A292-32C29694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main-tour data only; no exact match dates, injuries, or betting odds. The 14-day history gap can make recent-form features less current.</a:t>
            </a:r>
          </a:p>
        </p:txBody>
      </p:sp>
    </p:spTree>
    <p:extLst>
      <p:ext uri="{BB962C8B-B14F-4D97-AF65-F5344CB8AC3E}">
        <p14:creationId xmlns:p14="http://schemas.microsoft.com/office/powerpoint/2010/main" val="2011862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2026-10-08T09:09:26.3630000Z</dcterms:created>
  <dcterms:modified xsi:type="dcterms:W3CDTF">2026-10-08T09:09:26.3640000Z</dcterms:modified>
</coreProperties>
</file>