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5ca18fd02434735" /><Relationship Type="http://schemas.openxmlformats.org/officeDocument/2006/relationships/extended-properties" Target="/docProps/app.xml" Id="R89850900b5a040c5" /><Relationship Type="http://schemas.openxmlformats.org/officeDocument/2006/relationships/officeDocument" Target="/ppt/presentation.xml" Id="Rfe3695b2fa084b2b" /></Relationships>
</file>

<file path=ppt/presentation.xml><?xml version="1.0" encoding="utf-8"?>
<p:presentation xmlns:p="http://schemas.openxmlformats.org/presentationml/2006/main">
  <p:sldMasterIdLst>
    <p:sldMasterId xmlns:r="http://schemas.openxmlformats.org/officeDocument/2006/relationships" id="2147483648" r:id="R67a21f379ca04c59"/>
  </p:sldMasterIdLst>
  <p:notesMasterIdLst>
    <p:notesMasterId xmlns:r="http://schemas.openxmlformats.org/officeDocument/2006/relationships" r:id="R89158ab70a24426e"/>
  </p:notesMasterIdLst>
  <p:sldIdLst>
    <p:sldId xmlns:r="http://schemas.openxmlformats.org/officeDocument/2006/relationships" id="256" r:id="R5cc3aec9a38d467c"/>
    <p:sldId xmlns:r="http://schemas.openxmlformats.org/officeDocument/2006/relationships" id="257" r:id="R97c0205afa644d79"/>
    <p:sldId xmlns:r="http://schemas.openxmlformats.org/officeDocument/2006/relationships" id="258" r:id="R47bdbf07c04d46df"/>
    <p:sldId xmlns:r="http://schemas.openxmlformats.org/officeDocument/2006/relationships" id="259" r:id="Rd9b58bf80f964d64"/>
    <p:sldId xmlns:r="http://schemas.openxmlformats.org/officeDocument/2006/relationships" id="260" r:id="R91de3e1558e64cc8"/>
    <p:sldId xmlns:r="http://schemas.openxmlformats.org/officeDocument/2006/relationships" id="261" r:id="R56951180756741d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f7970454b864c95" /><Relationship Type="http://schemas.openxmlformats.org/officeDocument/2006/relationships/slideMaster" Target="/ppt/slideMasters/slideMaster1.xml" Id="R67a21f379ca04c59" /><Relationship Type="http://schemas.openxmlformats.org/officeDocument/2006/relationships/notesMaster" Target="/ppt/notesMasters/notesMaster1.xml" Id="R89158ab70a24426e" /><Relationship Type="http://schemas.openxmlformats.org/officeDocument/2006/relationships/presProps" Target="/ppt/presProps.xml" Id="R81146c24bcb2490e" /><Relationship Type="http://schemas.openxmlformats.org/officeDocument/2006/relationships/tableStyles" Target="/ppt/tableStyles.xml" Id="R6fef85acf2514b5e" /><Relationship Type="http://schemas.openxmlformats.org/officeDocument/2006/relationships/slide" Target="/ppt/slides/slide1.xml" Id="R5cc3aec9a38d467c" /><Relationship Type="http://schemas.openxmlformats.org/officeDocument/2006/relationships/slide" Target="/ppt/slides/slide2.xml" Id="R97c0205afa644d79" /><Relationship Type="http://schemas.openxmlformats.org/officeDocument/2006/relationships/slide" Target="/ppt/slides/slide3.xml" Id="R47bdbf07c04d46df" /><Relationship Type="http://schemas.openxmlformats.org/officeDocument/2006/relationships/slide" Target="/ppt/slides/slide4.xml" Id="Rd9b58bf80f964d64" /><Relationship Type="http://schemas.openxmlformats.org/officeDocument/2006/relationships/slide" Target="/ppt/slides/slide5.xml" Id="R91de3e1558e64cc8" /><Relationship Type="http://schemas.openxmlformats.org/officeDocument/2006/relationships/slide" Target="/ppt/slides/slide6.xml" Id="R56951180756741d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df2dca9ea7b4fd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fe5e1716eac486d" /><Relationship Type="http://schemas.openxmlformats.org/officeDocument/2006/relationships/notesMaster" Target="/ppt/notesMasters/notesMaster1.xml" Id="R2827d5e38c8d46c8" /></Relationships>
</file>

<file path=ppt/notesSlides/_rels/notesSlide2.xml.rels>&#65279;<?xml version="1.0" encoding="utf-8"?><Relationships xmlns="http://schemas.openxmlformats.org/package/2006/relationships"><Relationship Type="http://schemas.openxmlformats.org/officeDocument/2006/relationships/slide" Target="/ppt/slides/slide2.xml" Id="Red3cac2e14e04b29" /><Relationship Type="http://schemas.openxmlformats.org/officeDocument/2006/relationships/notesMaster" Target="/ppt/notesMasters/notesMaster1.xml" Id="Rfacd7d24c1714709" /></Relationships>
</file>

<file path=ppt/notesSlides/_rels/notesSlide3.xml.rels>&#65279;<?xml version="1.0" encoding="utf-8"?><Relationships xmlns="http://schemas.openxmlformats.org/package/2006/relationships"><Relationship Type="http://schemas.openxmlformats.org/officeDocument/2006/relationships/slide" Target="/ppt/slides/slide3.xml" Id="R08e11db30f9f4328" /><Relationship Type="http://schemas.openxmlformats.org/officeDocument/2006/relationships/notesMaster" Target="/ppt/notesMasters/notesMaster1.xml" Id="Rf72fff28da874854" /></Relationships>
</file>

<file path=ppt/notesSlides/_rels/notesSlide4.xml.rels>&#65279;<?xml version="1.0" encoding="utf-8"?><Relationships xmlns="http://schemas.openxmlformats.org/package/2006/relationships"><Relationship Type="http://schemas.openxmlformats.org/officeDocument/2006/relationships/slide" Target="/ppt/slides/slide4.xml" Id="R954f8d90df564ecb" /><Relationship Type="http://schemas.openxmlformats.org/officeDocument/2006/relationships/notesMaster" Target="/ppt/notesMasters/notesMaster1.xml" Id="Re37c9cf721404eda" /></Relationships>
</file>

<file path=ppt/notesSlides/_rels/notesSlide5.xml.rels>&#65279;<?xml version="1.0" encoding="utf-8"?><Relationships xmlns="http://schemas.openxmlformats.org/package/2006/relationships"><Relationship Type="http://schemas.openxmlformats.org/officeDocument/2006/relationships/slide" Target="/ppt/slides/slide5.xml" Id="R37d752f598bd4357" /><Relationship Type="http://schemas.openxmlformats.org/officeDocument/2006/relationships/notesMaster" Target="/ppt/notesMasters/notesMaster1.xml" Id="R5854121541d3437d" /></Relationships>
</file>

<file path=ppt/notesSlides/_rels/notesSlide6.xml.rels>&#65279;<?xml version="1.0" encoding="utf-8"?><Relationships xmlns="http://schemas.openxmlformats.org/package/2006/relationships"><Relationship Type="http://schemas.openxmlformats.org/officeDocument/2006/relationships/slide" Target="/ppt/slides/slide6.xml" Id="Re0e582a454b448bd" /><Relationship Type="http://schemas.openxmlformats.org/officeDocument/2006/relationships/notesMaster" Target="/ppt/notesMasters/notesMaster1.xml" Id="Rdd29075603394aa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scope: train with ATP seasons through 2023 and evaluate historical pre-match predictions on the 2024 ATP season. Data source and license are cited on slide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Dataset mirror: https://github.com/farhadGithub/tennis-atp-data. Its README identifies the files as ATP men's singles match data in Jeff Sackmann format, covering 1968-2024, and states CC BY-NC-SA 4.0. Original compiler attribution: Jeff Sackmann / Tennis Abstract. The project uses the 1991-2024 season files. The final cleaned workbook has 108,375 match rows and 50 columns, including the added season label.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 orientation uses player ID order; the IDs themselves are not predictors. Matches with the same tournament start date share one prior-history snapshot. A 14-day embargo helps avoid outcomes from overlapping tournaments. The tradeoff is less current form. Davis Cup is excluded due to its team format and date ambiguity.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Hyperparameter search: logistic regression and LinearSVC each compared C = 0.01, 0.1, 1, and 10. Random forest used 200 trees and max_features=sqrt throughout, comparing max_depth in {None, 20} and min_samples_leaf in {1, 3}. Highest 2022 validation accuracy selected each model's parameters. The final model fits through the 2023 season. During the 2024 walk-forward simulation, only sufficiently old earlier 2024 results can update form features; 2024 outcomes never fit the model or tune 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2022 chart shows validation accuracy after tuning on that season. The 2024 chart compares all methods on the 2,810 test matches with both player rankings recorded: logistic regression 65.30%, linear SVM 65.20%, random forest 64.45%, and the rank-only baseline 63.77%. Logistic regression's accuracy across all 2,816 matches is 65.34%. The 2024 test season was not used to choose 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Interpret the accuracy difference carefully: this project's data, features, temporal validation, and safeguards differ from the senior reference's reported 2019 result. The evaluation can be rerun from the single Python file and the annual source CSVs in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752cc82050c415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472d1dec1a947f2" /><Relationship Type="http://schemas.openxmlformats.org/officeDocument/2006/relationships/slideLayout" Target="/ppt/slideLayouts/slideLayout1.xml" Id="Rd82d481632a046d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82d481632a046d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674d669249a4069" /><Relationship Type="http://schemas.openxmlformats.org/officeDocument/2006/relationships/notesSlide" Target="/ppt/notesSlides/notesSlide1.xml" Id="Re0cfcf8ecb294ff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d1da201ff8944ed" /><Relationship Type="http://schemas.openxmlformats.org/officeDocument/2006/relationships/notesSlide" Target="/ppt/notesSlides/notesSlide2.xml" Id="Ra5561e82a03446c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9f440ff7ac74a52" /><Relationship Type="http://schemas.openxmlformats.org/officeDocument/2006/relationships/notesSlide" Target="/ppt/notesSlides/notesSlide3.xml" Id="R47a079c82b43471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3318ca909de48df" /><Relationship Type="http://schemas.openxmlformats.org/officeDocument/2006/relationships/notesSlide" Target="/ppt/notesSlides/notesSlide4.xml" Id="Rcd2280fad13d4bc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3fbb20e28034963" /><Relationship Type="http://schemas.openxmlformats.org/officeDocument/2006/relationships/chart" Target="/ppt/slides/charts/chart1.xml" Id="R8353b3977381458e" /><Relationship Type="http://schemas.openxmlformats.org/officeDocument/2006/relationships/chart" Target="/ppt/slides/charts/chart2.xml" Id="R6bd4b369862a408a" /><Relationship Type="http://schemas.openxmlformats.org/officeDocument/2006/relationships/notesSlide" Target="/ppt/notesSlides/notesSlide5.xml" Id="R2eabe9827da7428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6153b0a2e634575" /><Relationship Type="http://schemas.openxmlformats.org/officeDocument/2006/relationships/notesSlide" Target="/ppt/notesSlides/notesSlide6.xml" Id="R2459e9af760e4ac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425" b="1">
                <a:solidFill>
                  <a:srgbClr val="17365D"/>
                </a:solidFill>
                <a:latin typeface="Arial"/>
                <a:ea typeface="Arial"/>
                <a:cs typeface="Arial"/>
              </a:rPr>
              <a:t>2022 validation</a:t>
            </a:r>
          </a:p>
        </c:rich>
      </c:tx>
      <c:overlay val="0"/>
      <c:txPr>
        <a:bodyPr xmlns:a="http://schemas.openxmlformats.org/drawingml/2006/main" anchorCtr="1"/>
        <a:lstStyle xmlns:a="http://schemas.openxmlformats.org/drawingml/2006/main"/>
        <a:p xmlns:a="http://schemas.openxmlformats.org/drawingml/2006/main">
          <a:pPr>
            <a:defRPr sz="1425" b="1">
              <a:solidFill>
                <a:srgbClr val="17365D"/>
              </a:solidFill>
              <a:latin typeface="Arial"/>
              <a:ea typeface="Arial"/>
              <a:cs typeface="Arial"/>
            </a:defRPr>
          </a:pPr>
        </a:p>
      </c:txPr>
    </c:title>
    <c:plotArea>
      <c:barChart>
        <c:barDir val="col"/>
        <c:grouping val="clustered"/>
        <c:varyColors val="0"/>
        <c:ser>
          <c:idx val="0"/>
          <c:order val="0"/>
          <c:tx>
            <c:v>Accuracy</c:v>
          </c:tx>
          <c:spPr>
            <a:solidFill xmlns:a="http://schemas.openxmlformats.org/drawingml/2006/main">
              <a:srgbClr val="3478A8"/>
            </a:solidFill>
          </c:spPr>
          <c:dPt>
            <c:idx val="0"/>
            <c:invertIfNegative val="0"/>
            <c:spPr>
              <a:solidFill xmlns:a="http://schemas.openxmlformats.org/drawingml/2006/main">
                <a:srgbClr val="3478A8"/>
              </a:solidFill>
            </c:spPr>
          </c:dPt>
          <c:dPt>
            <c:idx val="1"/>
            <c:invertIfNegative val="0"/>
            <c:spPr>
              <a:solidFill xmlns:a="http://schemas.openxmlformats.org/drawingml/2006/main">
                <a:srgbClr val="238A8D"/>
              </a:solidFill>
            </c:spPr>
          </c:dPt>
          <c:dPt>
            <c:idx val="2"/>
            <c:invertIfNegative val="0"/>
            <c:spPr>
              <a:solidFill xmlns:a="http://schemas.openxmlformats.org/drawingml/2006/main">
                <a:srgbClr val="E39B3B"/>
              </a:solidFill>
            </c:spPr>
          </c:dPt>
          <c:cat>
            <c:strRef>
              <c:f>'Chart Data'!$A$2:$A$4</c:f>
              <c:strCache>
                <c:ptCount val="3"/>
                <c:pt idx="0">
                  <c:v>Logistic reg.</c:v>
                </c:pt>
                <c:pt idx="1">
                  <c:v>Linear SVM</c:v>
                </c:pt>
                <c:pt idx="2">
                  <c:v>Random forest</c:v>
                </c:pt>
              </c:strCache>
            </c:strRef>
          </c:cat>
          <c:val>
            <c:numRef>
              <c:f>'Chart Data'!$B$2:$B$4</c:f>
              <c:numCache>
                <c:formatCode>0"%"</c:formatCode>
                <c:ptCount val="3"/>
                <c:pt idx="0">
                  <c:v>66.04</c:v>
                </c:pt>
                <c:pt idx="1">
                  <c:v>65.89</c:v>
                </c:pt>
                <c:pt idx="2">
                  <c:v>66.37</c:v>
                </c:pt>
              </c:numCache>
            </c:numRef>
          </c:val>
        </c:ser>
        <c:dLbls>
          <c:numFmt formatCode="0.00&quot;%&quot;" sourceLinked="0"/>
          <c:txPr>
            <a:bodyPr xmlns:a="http://schemas.openxmlformats.org/drawingml/2006/main" anchorCtr="1"/>
            <a:lstStyle xmlns:a="http://schemas.openxmlformats.org/drawingml/2006/main"/>
            <a:p xmlns:a="http://schemas.openxmlformats.org/drawingml/2006/main">
              <a:pPr>
                <a:defRPr sz="825" b="1">
                  <a:solidFill>
                    <a:srgbClr val="25313C"/>
                  </a:solidFill>
                  <a:latin typeface="Arial"/>
                  <a:ea typeface="Arial"/>
                  <a:cs typeface="Aria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170"/>
                </a:solidFill>
                <a:latin typeface="Arial"/>
                <a:ea typeface="Arial"/>
                <a:cs typeface="Arial"/>
              </a:defRPr>
            </a:pPr>
          </a:p>
        </c:txPr>
        <c:crossAx val="48672768"/>
      </c:catAx>
      <c:valAx>
        <c:axId val="48672768"/>
        <c:scaling>
          <c:orientation val="minMax"/>
          <c:max val="70"/>
          <c:min val="0"/>
        </c:scaling>
        <c:delete val="0"/>
        <c:axPos val="l"/>
        <c:majorGridlines>
          <c:spPr>
            <a:ln xmlns:a="http://schemas.openxmlformats.org/drawingml/2006/main" w="9525">
              <a:solidFill>
                <a:srgbClr val="D6DEE6"/>
              </a:solidFill>
              <a:prstDash val="solid"/>
            </a:ln>
          </c:spPr>
        </c:majorGridlines>
        <c:numFmt formatCode="0&quot;%&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170"/>
                </a:solidFill>
                <a:latin typeface="Arial"/>
                <a:ea typeface="Arial"/>
                <a:cs typeface="Arial"/>
              </a:defRPr>
            </a:pPr>
          </a:p>
        </c:txPr>
        <c:crossAx val="48650112"/>
        <c:crossBetween val="between"/>
        <c:majorUnit val="10"/>
      </c:valAx>
    </c:plotArea>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425" b="1">
                <a:solidFill>
                  <a:srgbClr val="17365D"/>
                </a:solidFill>
                <a:latin typeface="Arial"/>
                <a:ea typeface="Arial"/>
                <a:cs typeface="Arial"/>
              </a:rPr>
              <a:t>2024 test, shared rank subset</a:t>
            </a:r>
          </a:p>
        </c:rich>
      </c:tx>
      <c:overlay val="0"/>
      <c:txPr>
        <a:bodyPr xmlns:a="http://schemas.openxmlformats.org/drawingml/2006/main" anchorCtr="1"/>
        <a:lstStyle xmlns:a="http://schemas.openxmlformats.org/drawingml/2006/main"/>
        <a:p xmlns:a="http://schemas.openxmlformats.org/drawingml/2006/main">
          <a:pPr>
            <a:defRPr sz="1425" b="1">
              <a:solidFill>
                <a:srgbClr val="17365D"/>
              </a:solidFill>
              <a:latin typeface="Arial"/>
              <a:ea typeface="Arial"/>
              <a:cs typeface="Arial"/>
            </a:defRPr>
          </a:pPr>
        </a:p>
      </c:txPr>
    </c:title>
    <c:plotArea>
      <c:barChart>
        <c:barDir val="col"/>
        <c:grouping val="clustered"/>
        <c:varyColors val="0"/>
        <c:ser>
          <c:idx val="0"/>
          <c:order val="0"/>
          <c:tx>
            <c:v>Accuracy</c:v>
          </c:tx>
          <c:spPr>
            <a:solidFill xmlns:a="http://schemas.openxmlformats.org/drawingml/2006/main">
              <a:srgbClr val="3478A8"/>
            </a:solidFill>
          </c:spPr>
          <c:dPt>
            <c:idx val="0"/>
            <c:invertIfNegative val="0"/>
            <c:spPr>
              <a:solidFill xmlns:a="http://schemas.openxmlformats.org/drawingml/2006/main">
                <a:srgbClr val="3478A8"/>
              </a:solidFill>
            </c:spPr>
          </c:dPt>
          <c:dPt>
            <c:idx val="1"/>
            <c:invertIfNegative val="0"/>
            <c:spPr>
              <a:solidFill xmlns:a="http://schemas.openxmlformats.org/drawingml/2006/main">
                <a:srgbClr val="238A8D"/>
              </a:solidFill>
            </c:spPr>
          </c:dPt>
          <c:dPt>
            <c:idx val="2"/>
            <c:invertIfNegative val="0"/>
            <c:spPr>
              <a:solidFill xmlns:a="http://schemas.openxmlformats.org/drawingml/2006/main">
                <a:srgbClr val="E39B3B"/>
              </a:solidFill>
            </c:spPr>
          </c:dPt>
          <c:dPt>
            <c:idx val="3"/>
            <c:invertIfNegative val="0"/>
            <c:spPr>
              <a:solidFill xmlns:a="http://schemas.openxmlformats.org/drawingml/2006/main">
                <a:srgbClr val="8897A5"/>
              </a:solidFill>
            </c:spPr>
          </c:dPt>
          <c:cat>
            <c:strRef>
              <c:f>'Chart Data'!$A$2:$A$5</c:f>
              <c:strCache>
                <c:ptCount val="4"/>
                <c:pt idx="0">
                  <c:v>Logistic reg.</c:v>
                </c:pt>
                <c:pt idx="1">
                  <c:v>Linear SVM</c:v>
                </c:pt>
                <c:pt idx="2">
                  <c:v>Random forest</c:v>
                </c:pt>
                <c:pt idx="3">
                  <c:v>Rank baseline</c:v>
                </c:pt>
              </c:strCache>
            </c:strRef>
          </c:cat>
          <c:val>
            <c:numRef>
              <c:f>'Chart Data'!$B$2:$B$5</c:f>
              <c:numCache>
                <c:formatCode>0"%"</c:formatCode>
                <c:ptCount val="4"/>
                <c:pt idx="0">
                  <c:v>65.3</c:v>
                </c:pt>
                <c:pt idx="1">
                  <c:v>65.2</c:v>
                </c:pt>
                <c:pt idx="2">
                  <c:v>64.45</c:v>
                </c:pt>
                <c:pt idx="3">
                  <c:v>63.77</c:v>
                </c:pt>
              </c:numCache>
            </c:numRef>
          </c:val>
        </c:ser>
        <c:dLbls>
          <c:numFmt formatCode="0.00&quot;%&quot;" sourceLinked="0"/>
          <c:txPr>
            <a:bodyPr xmlns:a="http://schemas.openxmlformats.org/drawingml/2006/main" anchorCtr="1"/>
            <a:lstStyle xmlns:a="http://schemas.openxmlformats.org/drawingml/2006/main"/>
            <a:p xmlns:a="http://schemas.openxmlformats.org/drawingml/2006/main">
              <a:pPr>
                <a:defRPr sz="825" b="1">
                  <a:solidFill>
                    <a:srgbClr val="25313C"/>
                  </a:solidFill>
                  <a:latin typeface="Arial"/>
                  <a:ea typeface="Arial"/>
                  <a:cs typeface="Aria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170"/>
                </a:solidFill>
                <a:latin typeface="Arial"/>
                <a:ea typeface="Arial"/>
                <a:cs typeface="Arial"/>
              </a:defRPr>
            </a:pPr>
          </a:p>
        </c:txPr>
        <c:crossAx val="48672768"/>
      </c:catAx>
      <c:valAx>
        <c:axId val="48672768"/>
        <c:scaling>
          <c:orientation val="minMax"/>
          <c:max val="70"/>
          <c:min val="0"/>
        </c:scaling>
        <c:delete val="0"/>
        <c:axPos val="l"/>
        <c:majorGridlines>
          <c:spPr>
            <a:ln xmlns:a="http://schemas.openxmlformats.org/drawingml/2006/main" w="9525">
              <a:solidFill>
                <a:srgbClr val="D6DEE6"/>
              </a:solidFill>
              <a:prstDash val="solid"/>
            </a:ln>
          </c:spPr>
        </c:majorGridlines>
        <c:numFmt formatCode="0&quot;%&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170"/>
                </a:solidFill>
                <a:latin typeface="Arial"/>
                <a:ea typeface="Arial"/>
                <a:cs typeface="Arial"/>
              </a:defRPr>
            </a:pPr>
          </a:p>
        </c:txPr>
        <c:crossAx val="48650112"/>
        <c:crossBetween val="between"/>
        <c:majorUnit val="10"/>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9D58616-F9BB-408A-8D9E-EC9D25C7E6EC}"/>
              </a:ext>
            </a:extLst>
          </p:cNvPr>
          <p:cNvSpPr>
            <a:spLocks xmlns:a="http://schemas.openxmlformats.org/drawingml/2006/main" noGrp="1"/>
          </p:cNvSpPr>
          <p:nvPr/>
        </p:nvSpPr>
        <p:spPr>
          <a:xfrm xmlns:a="http://schemas.openxmlformats.org/drawingml/2006/main">
            <a:off x="781050" y="1123950"/>
            <a:ext cx="962025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4350" b="1">
                <a:solidFill>
                  <a:srgbClr val="17365D"/>
                </a:solidFill>
                <a:latin typeface="Arial"/>
                <a:ea typeface="Arial"/>
                <a:cs typeface="Arial"/>
              </a:defRPr>
            </a:pPr>
            <a:r>
              <a:rPr sz="4350" b="1">
                <a:solidFill>
                  <a:srgbClr val="17365D"/>
                </a:solidFill>
                <a:latin typeface="Arial"/>
                <a:ea typeface="Arial"/>
                <a:cs typeface="Arial"/>
              </a:rPr>
              <a:t>ATP Tennis Match</a:t>
            </a:r>
          </a:p>
          <a:p xmlns:a="http://schemas.openxmlformats.org/drawingml/2006/main">
            <a:pPr>
              <a:buNone/>
              <a:defRPr sz="4350" b="1">
                <a:solidFill>
                  <a:srgbClr val="17365D"/>
                </a:solidFill>
                <a:latin typeface="Arial"/>
                <a:ea typeface="Arial"/>
                <a:cs typeface="Arial"/>
              </a:defRPr>
            </a:pPr>
            <a:r>
              <a:rPr sz="4350" b="1">
                <a:solidFill>
                  <a:srgbClr val="17365D"/>
                </a:solidFill>
                <a:latin typeface="Arial"/>
                <a:ea typeface="Arial"/>
                <a:cs typeface="Arial"/>
              </a:rPr>
              <a:t>Winner Prediction</a:t>
            </a:r>
          </a:p>
        </p:txBody>
      </p:sp>
      <p:sp>
        <p:nvSpPr>
          <p:cNvPr id="2" name="">
            <a:extLst xmlns:a="http://schemas.openxmlformats.org/drawingml/2006/main">
              <a:ext uri="{FF2B5EF4-FFF2-40B4-BE49-F238E27FC236}">
                <a16:creationId xmlns:a16="http://schemas.microsoft.com/office/drawing/2014/main" id="{BAA60A66-3777-4071-9A89-5752311BB9D0}"/>
              </a:ext>
            </a:extLst>
          </p:cNvPr>
          <p:cNvSpPr>
            <a:spLocks xmlns:a="http://schemas.openxmlformats.org/drawingml/2006/main" noGrp="1"/>
          </p:cNvSpPr>
          <p:nvPr/>
        </p:nvSpPr>
        <p:spPr>
          <a:xfrm xmlns:a="http://schemas.openxmlformats.org/drawingml/2006/main">
            <a:off x="819150" y="3028950"/>
            <a:ext cx="9334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100" b="0">
                <a:solidFill>
                  <a:srgbClr val="347C55"/>
                </a:solidFill>
                <a:latin typeface="Arial"/>
                <a:ea typeface="Arial"/>
                <a:cs typeface="Arial"/>
              </a:defRPr>
            </a:pPr>
            <a:r>
              <a:rPr sz="2100" b="0">
                <a:solidFill>
                  <a:srgbClr val="347C55"/>
                </a:solidFill>
                <a:latin typeface="Arial"/>
                <a:ea typeface="Arial"/>
                <a:cs typeface="Arial"/>
              </a:rPr>
              <a:t>Historical evaluation on the 2024 ATP season</a:t>
            </a:r>
          </a:p>
        </p:txBody>
      </p:sp>
      <p:sp>
        <p:nvSpPr>
          <p:cNvPr id="3" name="">
            <a:extLst xmlns:a="http://schemas.openxmlformats.org/drawingml/2006/main">
              <a:ext uri="{FF2B5EF4-FFF2-40B4-BE49-F238E27FC236}">
                <a16:creationId xmlns:a16="http://schemas.microsoft.com/office/drawing/2014/main" id="{EA926A42-B196-4429-9063-231E78A9E7EA}"/>
              </a:ext>
            </a:extLst>
          </p:cNvPr>
          <p:cNvSpPr>
            <a:spLocks xmlns:a="http://schemas.openxmlformats.org/drawingml/2006/main" noGrp="1"/>
          </p:cNvSpPr>
          <p:nvPr/>
        </p:nvSpPr>
        <p:spPr>
          <a:xfrm xmlns:a="http://schemas.openxmlformats.org/drawingml/2006/main">
            <a:off x="819150" y="3676650"/>
            <a:ext cx="1000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75" b="0">
                <a:solidFill>
                  <a:srgbClr val="526170"/>
                </a:solidFill>
                <a:latin typeface="Arial"/>
                <a:ea typeface="Arial"/>
                <a:cs typeface="Arial"/>
              </a:defRPr>
            </a:pPr>
            <a:r>
              <a:rPr sz="1575" b="0">
                <a:solidFill>
                  <a:srgbClr val="526170"/>
                </a:solidFill>
                <a:latin typeface="Arial"/>
                <a:ea typeface="Arial"/>
                <a:cs typeface="Arial"/>
              </a:rPr>
              <a:t>Pre-match data, model tuning, and a chronological test</a:t>
            </a:r>
          </a:p>
        </p:txBody>
      </p:sp>
      <p:sp>
        <p:nvSpPr>
          <p:cNvPr id="4" name="">
            <a:extLst xmlns:a="http://schemas.openxmlformats.org/drawingml/2006/main">
              <a:ext uri="{FF2B5EF4-FFF2-40B4-BE49-F238E27FC236}">
                <a16:creationId xmlns:a16="http://schemas.microsoft.com/office/drawing/2014/main" id="{C22130E7-9B46-4B2C-892E-99D6758230E9}"/>
              </a:ext>
            </a:extLst>
          </p:cNvPr>
          <p:cNvSpPr>
            <a:spLocks xmlns:a="http://schemas.openxmlformats.org/drawingml/2006/main" noGrp="1"/>
          </p:cNvSpPr>
          <p:nvPr/>
        </p:nvSpPr>
        <p:spPr>
          <a:xfrm xmlns:a="http://schemas.openxmlformats.org/drawingml/2006/main">
            <a:off x="819150" y="5657850"/>
            <a:ext cx="714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350" b="0">
                <a:solidFill>
                  <a:srgbClr val="526170"/>
                </a:solidFill>
                <a:latin typeface="Arial"/>
                <a:ea typeface="Arial"/>
                <a:cs typeface="Arial"/>
              </a:defRPr>
            </a:pPr>
            <a:r>
              <a:rPr sz="1350" b="0">
                <a:solidFill>
                  <a:srgbClr val="526170"/>
                </a:solidFill>
                <a:latin typeface="Arial"/>
                <a:ea typeface="Arial"/>
                <a:cs typeface="Arial"/>
              </a:rPr>
              <a:t>Machine Learning Mini-Project</a:t>
            </a:r>
          </a:p>
        </p:txBody>
      </p:sp>
    </p:spTree>
    <p:extLst>
      <p:ext uri="{BB962C8B-B14F-4D97-AF65-F5344CB8AC3E}">
        <p14:creationId xmlns:p14="http://schemas.microsoft.com/office/powerpoint/2010/main" val="20266779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26EC2B-6CA9-4EB3-8B8B-5DE822FFD2BF}"/>
              </a:ext>
            </a:extLst>
          </p:cNvPr>
          <p:cNvSpPr>
            <a:spLocks xmlns:a="http://schemas.openxmlformats.org/drawingml/2006/main" noGrp="1"/>
          </p:cNvSpPr>
          <p:nvPr/>
        </p:nvSpPr>
        <p:spPr>
          <a:xfrm xmlns:a="http://schemas.openxmlformats.org/drawingml/2006/main">
            <a:off x="685800" y="4000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150" b="1">
                <a:solidFill>
                  <a:srgbClr val="17365D"/>
                </a:solidFill>
                <a:latin typeface="Arial"/>
                <a:ea typeface="Arial"/>
                <a:cs typeface="Arial"/>
              </a:defRPr>
            </a:pPr>
            <a:r>
              <a:rPr sz="3150" b="1">
                <a:solidFill>
                  <a:srgbClr val="17365D"/>
                </a:solidFill>
                <a:latin typeface="Arial"/>
                <a:ea typeface="Arial"/>
                <a:cs typeface="Arial"/>
              </a:rPr>
              <a:t>Problem and dataset</a:t>
            </a:r>
          </a:p>
        </p:txBody>
      </p:sp>
      <p:sp>
        <p:nvSpPr>
          <p:cNvPr id="2" name="">
            <a:extLst xmlns:a="http://schemas.openxmlformats.org/drawingml/2006/main">
              <a:ext uri="{FF2B5EF4-FFF2-40B4-BE49-F238E27FC236}">
                <a16:creationId xmlns:a16="http://schemas.microsoft.com/office/drawing/2014/main" id="{5188C254-69D7-46CB-8700-E55089EF426D}"/>
              </a:ext>
            </a:extLst>
          </p:cNvPr>
          <p:cNvSpPr>
            <a:spLocks xmlns:a="http://schemas.openxmlformats.org/drawingml/2006/main" noGrp="1"/>
          </p:cNvSpPr>
          <p:nvPr/>
        </p:nvSpPr>
        <p:spPr>
          <a:xfrm xmlns:a="http://schemas.openxmlformats.org/drawingml/2006/main">
            <a:off x="685800" y="64198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050" b="0">
                <a:solidFill>
                  <a:srgbClr val="526170"/>
                </a:solidFill>
                <a:latin typeface="Arial"/>
                <a:ea typeface="Arial"/>
                <a:cs typeface="Arial"/>
              </a:defRPr>
            </a:pPr>
            <a:r>
              <a:rPr sz="1050" b="0">
                <a:solidFill>
                  <a:srgbClr val="526170"/>
                </a:solidFill>
                <a:latin typeface="Arial"/>
                <a:ea typeface="Arial"/>
                <a:cs typeface="Arial"/>
              </a:rPr>
              <a:t>ATP MATCH PREDICTION  |  02</a:t>
            </a:r>
          </a:p>
        </p:txBody>
      </p:sp>
      <p:sp>
        <p:nvSpPr>
          <p:cNvPr id="3" name="">
            <a:extLst xmlns:a="http://schemas.openxmlformats.org/drawingml/2006/main">
              <a:ext uri="{FF2B5EF4-FFF2-40B4-BE49-F238E27FC236}">
                <a16:creationId xmlns:a16="http://schemas.microsoft.com/office/drawing/2014/main" id="{2DC0AEFA-5751-4DE8-B1C9-B079923F7F94}"/>
              </a:ext>
            </a:extLst>
          </p:cNvPr>
          <p:cNvSpPr>
            <a:spLocks xmlns:a="http://schemas.openxmlformats.org/drawingml/2006/main" noGrp="1"/>
          </p:cNvSpPr>
          <p:nvPr/>
        </p:nvSpPr>
        <p:spPr>
          <a:xfrm xmlns:a="http://schemas.openxmlformats.org/drawingml/2006/main">
            <a:off x="781050" y="1381125"/>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75" b="1">
                <a:solidFill>
                  <a:srgbClr val="347C55"/>
                </a:solidFill>
                <a:latin typeface="Arial"/>
                <a:ea typeface="Arial"/>
                <a:cs typeface="Arial"/>
              </a:defRPr>
            </a:pPr>
            <a:r>
              <a:rPr sz="1875" b="1">
                <a:solidFill>
                  <a:srgbClr val="347C55"/>
                </a:solidFill>
                <a:latin typeface="Arial"/>
                <a:ea typeface="Arial"/>
                <a:cs typeface="Arial"/>
              </a:rPr>
              <a:t>Prediction question</a:t>
            </a:r>
          </a:p>
        </p:txBody>
      </p:sp>
      <p:sp>
        <p:nvSpPr>
          <p:cNvPr id="4" name="">
            <a:extLst xmlns:a="http://schemas.openxmlformats.org/drawingml/2006/main">
              <a:ext uri="{FF2B5EF4-FFF2-40B4-BE49-F238E27FC236}">
                <a16:creationId xmlns:a16="http://schemas.microsoft.com/office/drawing/2014/main" id="{D66DAF5D-C204-47FD-B256-E524D7B5C6B6}"/>
              </a:ext>
            </a:extLst>
          </p:cNvPr>
          <p:cNvSpPr>
            <a:spLocks xmlns:a="http://schemas.openxmlformats.org/drawingml/2006/main" noGrp="1"/>
          </p:cNvSpPr>
          <p:nvPr/>
        </p:nvSpPr>
        <p:spPr>
          <a:xfrm xmlns:a="http://schemas.openxmlformats.org/drawingml/2006/main">
            <a:off x="781050" y="1809750"/>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250" b="1">
                <a:solidFill>
                  <a:srgbClr val="17365D"/>
                </a:solidFill>
                <a:latin typeface="Arial"/>
                <a:ea typeface="Arial"/>
                <a:cs typeface="Arial"/>
              </a:defRPr>
            </a:pPr>
            <a:r>
              <a:rPr sz="2250" b="1">
                <a:solidFill>
                  <a:srgbClr val="17365D"/>
                </a:solidFill>
                <a:latin typeface="Arial"/>
                <a:ea typeface="Arial"/>
                <a:cs typeface="Arial"/>
              </a:rPr>
              <a:t>Can pre-match player history predict which ATP singles player wins?</a:t>
            </a:r>
          </a:p>
        </p:txBody>
      </p:sp>
      <p:sp>
        <p:nvSpPr>
          <p:cNvPr id="5" name="">
            <a:extLst xmlns:a="http://schemas.openxmlformats.org/drawingml/2006/main">
              <a:ext uri="{FF2B5EF4-FFF2-40B4-BE49-F238E27FC236}">
                <a16:creationId xmlns:a16="http://schemas.microsoft.com/office/drawing/2014/main" id="{5D3A1E8B-82E7-47D0-9D35-9CECAAB51DC2}"/>
              </a:ext>
            </a:extLst>
          </p:cNvPr>
          <p:cNvSpPr>
            <a:spLocks xmlns:a="http://schemas.openxmlformats.org/drawingml/2006/main" noGrp="1"/>
          </p:cNvSpPr>
          <p:nvPr/>
        </p:nvSpPr>
        <p:spPr>
          <a:xfrm xmlns:a="http://schemas.openxmlformats.org/drawingml/2006/main">
            <a:off x="6286500" y="1381125"/>
            <a:ext cx="409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75" b="1">
                <a:solidFill>
                  <a:srgbClr val="347C55"/>
                </a:solidFill>
                <a:latin typeface="Arial"/>
                <a:ea typeface="Arial"/>
                <a:cs typeface="Arial"/>
              </a:defRPr>
            </a:pPr>
            <a:r>
              <a:rPr sz="1875" b="1">
                <a:solidFill>
                  <a:srgbClr val="347C55"/>
                </a:solidFill>
                <a:latin typeface="Arial"/>
                <a:ea typeface="Arial"/>
                <a:cs typeface="Arial"/>
              </a:rPr>
              <a:t>Dataset</a:t>
            </a:r>
          </a:p>
        </p:txBody>
      </p:sp>
      <p:sp>
        <p:nvSpPr>
          <p:cNvPr id="6" name="">
            <a:extLst xmlns:a="http://schemas.openxmlformats.org/drawingml/2006/main">
              <a:ext uri="{FF2B5EF4-FFF2-40B4-BE49-F238E27FC236}">
                <a16:creationId xmlns:a16="http://schemas.microsoft.com/office/drawing/2014/main" id="{5530F6BD-47DF-49F0-BD3D-3411354DA91C}"/>
              </a:ext>
            </a:extLst>
          </p:cNvPr>
          <p:cNvSpPr>
            <a:spLocks xmlns:a="http://schemas.openxmlformats.org/drawingml/2006/main" noGrp="1"/>
          </p:cNvSpPr>
          <p:nvPr/>
        </p:nvSpPr>
        <p:spPr>
          <a:xfrm xmlns:a="http://schemas.openxmlformats.org/drawingml/2006/main">
            <a:off x="6286500" y="1809750"/>
            <a:ext cx="4857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725" b="0">
                <a:solidFill>
                  <a:srgbClr val="25313C"/>
                </a:solidFill>
                <a:latin typeface="Arial"/>
                <a:ea typeface="Arial"/>
                <a:cs typeface="Arial"/>
              </a:defRPr>
            </a:pPr>
            <a:r>
              <a:rPr sz="1725" b="0">
                <a:solidFill>
                  <a:srgbClr val="25313C"/>
                </a:solidFill>
                <a:latin typeface="Arial"/>
                <a:ea typeface="Arial"/>
                <a:cs typeface="Arial"/>
              </a:rPr>
              <a:t>1991-2024 ATP seasons</a:t>
            </a:r>
          </a:p>
          <a:p xmlns:a="http://schemas.openxmlformats.org/drawingml/2006/main">
            <a:pPr>
              <a:buNone/>
              <a:defRPr sz="1725" b="0">
                <a:solidFill>
                  <a:srgbClr val="25313C"/>
                </a:solidFill>
                <a:latin typeface="Arial"/>
                <a:ea typeface="Arial"/>
                <a:cs typeface="Arial"/>
              </a:defRPr>
            </a:pPr>
            <a:r>
              <a:rPr sz="1725" b="0">
                <a:solidFill>
                  <a:srgbClr val="25313C"/>
                </a:solidFill>
                <a:latin typeface="Arial"/>
                <a:ea typeface="Arial"/>
                <a:cs typeface="Arial"/>
              </a:rPr>
              <a:t>108,375 cleaned matches</a:t>
            </a:r>
          </a:p>
          <a:p xmlns:a="http://schemas.openxmlformats.org/drawingml/2006/main">
            <a:pPr>
              <a:buNone/>
              <a:defRPr sz="1725" b="0">
                <a:solidFill>
                  <a:srgbClr val="25313C"/>
                </a:solidFill>
                <a:latin typeface="Arial"/>
                <a:ea typeface="Arial"/>
                <a:cs typeface="Arial"/>
              </a:defRPr>
            </a:pPr>
            <a:r>
              <a:rPr sz="1725" b="0">
                <a:solidFill>
                  <a:srgbClr val="25313C"/>
                </a:solidFill>
                <a:latin typeface="Arial"/>
                <a:ea typeface="Arial"/>
                <a:cs typeface="Arial"/>
              </a:rPr>
              <a:t>49 source fields + season label</a:t>
            </a:r>
          </a:p>
          <a:p xmlns:a="http://schemas.openxmlformats.org/drawingml/2006/main">
            <a:pPr>
              <a:buNone/>
              <a:defRPr sz="1725" b="0">
                <a:solidFill>
                  <a:srgbClr val="25313C"/>
                </a:solidFill>
                <a:latin typeface="Arial"/>
                <a:ea typeface="Arial"/>
                <a:cs typeface="Arial"/>
              </a:defRPr>
            </a:pPr>
            <a:r>
              <a:rPr sz="1725" b="0">
                <a:solidFill>
                  <a:srgbClr val="25313C"/>
                </a:solidFill>
                <a:latin typeface="Arial"/>
                <a:ea typeface="Arial"/>
                <a:cs typeface="Arial"/>
              </a:rPr>
              <a:t>98,530 matches after Davis Cup exclusion</a:t>
            </a:r>
          </a:p>
        </p:txBody>
      </p:sp>
      <p:sp>
        <p:nvSpPr>
          <p:cNvPr id="7" name="">
            <a:extLst xmlns:a="http://schemas.openxmlformats.org/drawingml/2006/main">
              <a:ext uri="{FF2B5EF4-FFF2-40B4-BE49-F238E27FC236}">
                <a16:creationId xmlns:a16="http://schemas.microsoft.com/office/drawing/2014/main" id="{862279B8-0D9F-415E-9C21-52416E970CCE}"/>
              </a:ext>
            </a:extLst>
          </p:cNvPr>
          <p:cNvSpPr>
            <a:spLocks xmlns:a="http://schemas.openxmlformats.org/drawingml/2006/main" noGrp="1"/>
          </p:cNvSpPr>
          <p:nvPr/>
        </p:nvSpPr>
        <p:spPr>
          <a:xfrm xmlns:a="http://schemas.openxmlformats.org/drawingml/2006/main">
            <a:off x="781050" y="4267200"/>
            <a:ext cx="10382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75" b="0">
                <a:solidFill>
                  <a:srgbClr val="526170"/>
                </a:solidFill>
                <a:latin typeface="Arial"/>
                <a:ea typeface="Arial"/>
                <a:cs typeface="Arial"/>
              </a:defRPr>
            </a:pPr>
            <a:r>
              <a:rPr sz="1575" b="0">
                <a:solidFill>
                  <a:srgbClr val="526170"/>
                </a:solidFill>
                <a:latin typeface="Arial"/>
                <a:ea typeface="Arial"/>
                <a:cs typeface="Arial"/>
              </a:rPr>
              <a:t>The code combines the separate yearly CSV files into one cleaned Matches sheet. The workbook has one row per match.</a:t>
            </a:r>
          </a:p>
        </p:txBody>
      </p:sp>
      <p:sp>
        <p:nvSpPr>
          <p:cNvPr id="8" name="">
            <a:extLst xmlns:a="http://schemas.openxmlformats.org/drawingml/2006/main">
              <a:ext uri="{FF2B5EF4-FFF2-40B4-BE49-F238E27FC236}">
                <a16:creationId xmlns:a16="http://schemas.microsoft.com/office/drawing/2014/main" id="{F0FAF125-FB08-4707-AC3D-0091BB14C201}"/>
              </a:ext>
            </a:extLst>
          </p:cNvPr>
          <p:cNvSpPr>
            <a:spLocks xmlns:a="http://schemas.openxmlformats.org/drawingml/2006/main" noGrp="1"/>
          </p:cNvSpPr>
          <p:nvPr/>
        </p:nvSpPr>
        <p:spPr>
          <a:xfrm xmlns:a="http://schemas.openxmlformats.org/drawingml/2006/main">
            <a:off x="781050" y="5381625"/>
            <a:ext cx="10382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275" b="0">
                <a:solidFill>
                  <a:srgbClr val="526170"/>
                </a:solidFill>
                <a:latin typeface="Arial"/>
                <a:ea typeface="Arial"/>
                <a:cs typeface="Arial"/>
              </a:defRPr>
            </a:pPr>
            <a:r>
              <a:rPr sz="1275" b="0">
                <a:solidFill>
                  <a:srgbClr val="526170"/>
                </a:solidFill>
                <a:latin typeface="Arial"/>
                <a:ea typeface="Arial"/>
                <a:cs typeface="Arial"/>
              </a:rPr>
              <a:t>Source: Jeff Sackmann / Tennis Abstract, via the ATP data mirror. CC BY-NC-SA 4.0.</a:t>
            </a:r>
          </a:p>
        </p:txBody>
      </p:sp>
      <p:sp>
        <p:nvSpPr>
          <p:cNvPr id="10" name="">
            <a:extLst xmlns:a="http://schemas.openxmlformats.org/drawingml/2006/main">
              <a:ext uri="{FF2B5EF4-FFF2-40B4-BE49-F238E27FC236}">
                <a16:creationId xmlns:a16="http://schemas.microsoft.com/office/drawing/2014/main" id="{6FBFB830-9427-4A12-978E-1539393F6BF7}"/>
              </a:ext>
            </a:extLst>
          </p:cNvPr>
          <p:cNvSpPr>
            <a:spLocks xmlns:a="http://schemas.openxmlformats.org/drawingml/2006/main" noGrp="1"/>
          </p:cNvSpPr>
          <p:nvPr/>
        </p:nvSpPr>
        <p:spPr>
          <a:xfrm xmlns:a="http://schemas.openxmlformats.org/drawingml/2006/main">
            <a:off x="781050" y="3143250"/>
            <a:ext cx="4953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Autofit/>
          </a:bodyPr>
          <a:lstStyle xmlns:a="http://schemas.openxmlformats.org/drawingml/2006/main">
            <a:defPPr>
              <a:defRPr sz="1500" b="0">
                <a:solidFill>
                  <a:srgbClr val="25313C"/>
                </a:solidFill>
                <a:latin typeface="Arial"/>
                <a:ea typeface="Arial"/>
                <a:cs typeface="Arial"/>
              </a:defRPr>
            </a:defPPr>
          </a:lstStyle>
          <a:p xmlns:a="http://schemas.openxmlformats.org/drawingml/2006/main">
            <a:pPr>
              <a:defRPr sz="1500" b="0">
                <a:solidFill>
                  <a:srgbClr val="25313C"/>
                </a:solidFill>
                <a:latin typeface="Arial"/>
                <a:ea typeface="Arial"/>
                <a:cs typeface="Arial"/>
              </a:defRPr>
            </a:pPr>
            <a:r>
              <a:rPr sz="1500" b="0">
                <a:solidFill>
                  <a:srgbClr val="25313C"/>
                </a:solidFill>
                <a:latin typeface="Arial"/>
                <a:ea typeface="Arial"/>
                <a:cs typeface="Arial"/>
              </a:rPr>
              <a:t>One row is one match. Player A is the lower numeric player ID. Target: 1 if A wins, 0 if B wins.</a:t>
            </a:r>
          </a:p>
        </p:txBody>
      </p:sp>
    </p:spTree>
    <p:extLst>
      <p:ext uri="{BB962C8B-B14F-4D97-AF65-F5344CB8AC3E}">
        <p14:creationId xmlns:p14="http://schemas.microsoft.com/office/powerpoint/2010/main" val="42814159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59C33E0-5E1A-4689-B141-4F78FAE1BC40}"/>
              </a:ext>
            </a:extLst>
          </p:cNvPr>
          <p:cNvSpPr>
            <a:spLocks xmlns:a="http://schemas.openxmlformats.org/drawingml/2006/main" noGrp="1"/>
          </p:cNvSpPr>
          <p:nvPr/>
        </p:nvSpPr>
        <p:spPr>
          <a:xfrm xmlns:a="http://schemas.openxmlformats.org/drawingml/2006/main">
            <a:off x="685800" y="4000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150" b="1">
                <a:solidFill>
                  <a:srgbClr val="17365D"/>
                </a:solidFill>
                <a:latin typeface="Arial"/>
                <a:ea typeface="Arial"/>
                <a:cs typeface="Arial"/>
              </a:defRPr>
            </a:pPr>
            <a:r>
              <a:rPr sz="3150" b="1">
                <a:solidFill>
                  <a:srgbClr val="17365D"/>
                </a:solidFill>
                <a:latin typeface="Arial"/>
                <a:ea typeface="Arial"/>
                <a:cs typeface="Arial"/>
              </a:rPr>
              <a:t>Pre-match information only</a:t>
            </a:r>
          </a:p>
        </p:txBody>
      </p:sp>
      <p:sp>
        <p:nvSpPr>
          <p:cNvPr id="2" name="">
            <a:extLst xmlns:a="http://schemas.openxmlformats.org/drawingml/2006/main">
              <a:ext uri="{FF2B5EF4-FFF2-40B4-BE49-F238E27FC236}">
                <a16:creationId xmlns:a16="http://schemas.microsoft.com/office/drawing/2014/main" id="{75ED8457-A67B-4666-BA92-A0A77ABF3045}"/>
              </a:ext>
            </a:extLst>
          </p:cNvPr>
          <p:cNvSpPr>
            <a:spLocks xmlns:a="http://schemas.openxmlformats.org/drawingml/2006/main" noGrp="1"/>
          </p:cNvSpPr>
          <p:nvPr/>
        </p:nvSpPr>
        <p:spPr>
          <a:xfrm xmlns:a="http://schemas.openxmlformats.org/drawingml/2006/main">
            <a:off x="685800" y="64198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050" b="0">
                <a:solidFill>
                  <a:srgbClr val="526170"/>
                </a:solidFill>
                <a:latin typeface="Arial"/>
                <a:ea typeface="Arial"/>
                <a:cs typeface="Arial"/>
              </a:defRPr>
            </a:pPr>
            <a:r>
              <a:rPr sz="1050" b="0">
                <a:solidFill>
                  <a:srgbClr val="526170"/>
                </a:solidFill>
                <a:latin typeface="Arial"/>
                <a:ea typeface="Arial"/>
                <a:cs typeface="Arial"/>
              </a:rPr>
              <a:t>ATP MATCH PREDICTION  |  03</a:t>
            </a:r>
          </a:p>
        </p:txBody>
      </p:sp>
      <p:sp>
        <p:nvSpPr>
          <p:cNvPr id="3" name="">
            <a:extLst xmlns:a="http://schemas.openxmlformats.org/drawingml/2006/main">
              <a:ext uri="{FF2B5EF4-FFF2-40B4-BE49-F238E27FC236}">
                <a16:creationId xmlns:a16="http://schemas.microsoft.com/office/drawing/2014/main" id="{DA2A2D34-BE09-4CC2-BFF1-593AB230CB65}"/>
              </a:ext>
            </a:extLst>
          </p:cNvPr>
          <p:cNvSpPr>
            <a:spLocks xmlns:a="http://schemas.openxmlformats.org/drawingml/2006/main" noGrp="1"/>
          </p:cNvSpPr>
          <p:nvPr/>
        </p:nvSpPr>
        <p:spPr>
          <a:xfrm xmlns:a="http://schemas.openxmlformats.org/drawingml/2006/main">
            <a:off x="781050" y="1257300"/>
            <a:ext cx="857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950" b="1">
                <a:solidFill>
                  <a:srgbClr val="347C55"/>
                </a:solidFill>
                <a:latin typeface="Arial"/>
                <a:ea typeface="Arial"/>
                <a:cs typeface="Arial"/>
              </a:defRPr>
            </a:pPr>
            <a:r>
              <a:rPr sz="1950" b="1">
                <a:solidFill>
                  <a:srgbClr val="347C55"/>
                </a:solidFill>
                <a:latin typeface="Arial"/>
                <a:ea typeface="Arial"/>
                <a:cs typeface="Arial"/>
              </a:rPr>
              <a:t>25 pre-match input features, grouped</a:t>
            </a:r>
          </a:p>
        </p:txBody>
      </p:sp>
      <p:sp>
        <p:nvSpPr>
          <p:cNvPr id="4" name="">
            <a:extLst xmlns:a="http://schemas.openxmlformats.org/drawingml/2006/main">
              <a:ext uri="{FF2B5EF4-FFF2-40B4-BE49-F238E27FC236}">
                <a16:creationId xmlns:a16="http://schemas.microsoft.com/office/drawing/2014/main" id="{6F9E1706-F682-4079-88BB-70A94D07CC6E}"/>
              </a:ext>
            </a:extLst>
          </p:cNvPr>
          <p:cNvSpPr>
            <a:spLocks xmlns:a="http://schemas.openxmlformats.org/drawingml/2006/main" noGrp="1"/>
          </p:cNvSpPr>
          <p:nvPr/>
        </p:nvSpPr>
        <p:spPr>
          <a:xfrm xmlns:a="http://schemas.openxmlformats.org/drawingml/2006/main">
            <a:off x="990600" y="1828800"/>
            <a:ext cx="628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0">
                <a:solidFill>
                  <a:srgbClr val="25313C"/>
                </a:solidFill>
                <a:latin typeface="Arial"/>
                <a:ea typeface="Arial"/>
                <a:cs typeface="Arial"/>
              </a:defRPr>
            </a:pPr>
            <a:r>
              <a:rPr sz="1650" b="0">
                <a:solidFill>
                  <a:srgbClr val="25313C"/>
                </a:solidFill>
                <a:latin typeface="Arial"/>
                <a:ea typeface="Arial"/>
                <a:cs typeface="Arial"/>
              </a:rPr>
              <a:t>Ranking and ranking points for both players</a:t>
            </a:r>
          </a:p>
        </p:txBody>
      </p:sp>
      <p:sp>
        <p:nvSpPr>
          <p:cNvPr id="5" name="">
            <a:extLst xmlns:a="http://schemas.openxmlformats.org/drawingml/2006/main">
              <a:ext uri="{FF2B5EF4-FFF2-40B4-BE49-F238E27FC236}">
                <a16:creationId xmlns:a16="http://schemas.microsoft.com/office/drawing/2014/main" id="{FA06BCAB-0E1A-43A7-9F4E-088A5BBA73D8}"/>
              </a:ext>
            </a:extLst>
          </p:cNvPr>
          <p:cNvSpPr>
            <a:spLocks xmlns:a="http://schemas.openxmlformats.org/drawingml/2006/main" noGrp="1"/>
          </p:cNvSpPr>
          <p:nvPr/>
        </p:nvSpPr>
        <p:spPr>
          <a:xfrm xmlns:a="http://schemas.openxmlformats.org/drawingml/2006/main">
            <a:off x="990600" y="2324100"/>
            <a:ext cx="628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0">
                <a:solidFill>
                  <a:srgbClr val="25313C"/>
                </a:solidFill>
                <a:latin typeface="Arial"/>
                <a:ea typeface="Arial"/>
                <a:cs typeface="Arial"/>
              </a:defRPr>
            </a:pPr>
            <a:r>
              <a:rPr sz="1650" b="0">
                <a:solidFill>
                  <a:srgbClr val="25313C"/>
                </a:solidFill>
                <a:latin typeface="Arial"/>
                <a:ea typeface="Arial"/>
                <a:cs typeface="Arial"/>
              </a:rPr>
              <a:t>Career and last-5/10/25 win-rate differences</a:t>
            </a:r>
          </a:p>
        </p:txBody>
      </p:sp>
      <p:sp>
        <p:nvSpPr>
          <p:cNvPr id="6" name="">
            <a:extLst xmlns:a="http://schemas.openxmlformats.org/drawingml/2006/main">
              <a:ext uri="{FF2B5EF4-FFF2-40B4-BE49-F238E27FC236}">
                <a16:creationId xmlns:a16="http://schemas.microsoft.com/office/drawing/2014/main" id="{49282839-90E6-4409-8AF8-FDC9114362DA}"/>
              </a:ext>
            </a:extLst>
          </p:cNvPr>
          <p:cNvSpPr>
            <a:spLocks xmlns:a="http://schemas.openxmlformats.org/drawingml/2006/main" noGrp="1"/>
          </p:cNvSpPr>
          <p:nvPr/>
        </p:nvSpPr>
        <p:spPr>
          <a:xfrm xmlns:a="http://schemas.openxmlformats.org/drawingml/2006/main">
            <a:off x="990600" y="2819400"/>
            <a:ext cx="628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0">
                <a:solidFill>
                  <a:srgbClr val="25313C"/>
                </a:solidFill>
                <a:latin typeface="Arial"/>
                <a:ea typeface="Arial"/>
                <a:cs typeface="Arial"/>
              </a:defRPr>
            </a:pPr>
            <a:r>
              <a:rPr sz="1650" b="0">
                <a:solidFill>
                  <a:srgbClr val="25313C"/>
                </a:solidFill>
                <a:latin typeface="Arial"/>
                <a:ea typeface="Arial"/>
                <a:cs typeface="Arial"/>
              </a:rPr>
              <a:t>Surface win rates and prior match counts</a:t>
            </a:r>
          </a:p>
        </p:txBody>
      </p:sp>
      <p:sp>
        <p:nvSpPr>
          <p:cNvPr id="7" name="">
            <a:extLst xmlns:a="http://schemas.openxmlformats.org/drawingml/2006/main">
              <a:ext uri="{FF2B5EF4-FFF2-40B4-BE49-F238E27FC236}">
                <a16:creationId xmlns:a16="http://schemas.microsoft.com/office/drawing/2014/main" id="{E8E62FFD-0630-43C6-B2E1-2B80A223E967}"/>
              </a:ext>
            </a:extLst>
          </p:cNvPr>
          <p:cNvSpPr>
            <a:spLocks xmlns:a="http://schemas.openxmlformats.org/drawingml/2006/main" noGrp="1"/>
          </p:cNvSpPr>
          <p:nvPr/>
        </p:nvSpPr>
        <p:spPr>
          <a:xfrm xmlns:a="http://schemas.openxmlformats.org/drawingml/2006/main">
            <a:off x="990600" y="3314700"/>
            <a:ext cx="628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0">
                <a:solidFill>
                  <a:srgbClr val="25313C"/>
                </a:solidFill>
                <a:latin typeface="Arial"/>
                <a:ea typeface="Arial"/>
                <a:cs typeface="Arial"/>
              </a:defRPr>
            </a:pPr>
            <a:r>
              <a:rPr sz="1650" b="0">
                <a:solidFill>
                  <a:srgbClr val="25313C"/>
                </a:solidFill>
                <a:latin typeface="Arial"/>
                <a:ea typeface="Arial"/>
                <a:cs typeface="Arial"/>
              </a:rPr>
              <a:t>Prior head-to-head and recent match activity</a:t>
            </a:r>
          </a:p>
        </p:txBody>
      </p:sp>
      <p:sp>
        <p:nvSpPr>
          <p:cNvPr id="8" name="">
            <a:extLst xmlns:a="http://schemas.openxmlformats.org/drawingml/2006/main">
              <a:ext uri="{FF2B5EF4-FFF2-40B4-BE49-F238E27FC236}">
                <a16:creationId xmlns:a16="http://schemas.microsoft.com/office/drawing/2014/main" id="{9796F0FA-0808-4F97-8079-45D100DCF088}"/>
              </a:ext>
            </a:extLst>
          </p:cNvPr>
          <p:cNvSpPr>
            <a:spLocks xmlns:a="http://schemas.openxmlformats.org/drawingml/2006/main" noGrp="1"/>
          </p:cNvSpPr>
          <p:nvPr/>
        </p:nvSpPr>
        <p:spPr>
          <a:xfrm xmlns:a="http://schemas.openxmlformats.org/drawingml/2006/main">
            <a:off x="990600" y="3810000"/>
            <a:ext cx="628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0">
                <a:solidFill>
                  <a:srgbClr val="25313C"/>
                </a:solidFill>
                <a:latin typeface="Arial"/>
                <a:ea typeface="Arial"/>
                <a:cs typeface="Arial"/>
              </a:defRPr>
            </a:pPr>
            <a:r>
              <a:rPr sz="1650" b="0">
                <a:solidFill>
                  <a:srgbClr val="25313C"/>
                </a:solidFill>
                <a:latin typeface="Arial"/>
                <a:ea typeface="Arial"/>
                <a:cs typeface="Arial"/>
              </a:rPr>
              <a:t>Age, height, and handedness differences</a:t>
            </a:r>
          </a:p>
        </p:txBody>
      </p:sp>
      <p:sp>
        <p:nvSpPr>
          <p:cNvPr id="9" name="">
            <a:extLst xmlns:a="http://schemas.openxmlformats.org/drawingml/2006/main">
              <a:ext uri="{FF2B5EF4-FFF2-40B4-BE49-F238E27FC236}">
                <a16:creationId xmlns:a16="http://schemas.microsoft.com/office/drawing/2014/main" id="{81045DD2-C3A9-4EC8-BA6D-FFC1C26F5987}"/>
              </a:ext>
            </a:extLst>
          </p:cNvPr>
          <p:cNvSpPr>
            <a:spLocks xmlns:a="http://schemas.openxmlformats.org/drawingml/2006/main" noGrp="1"/>
          </p:cNvSpPr>
          <p:nvPr/>
        </p:nvSpPr>
        <p:spPr>
          <a:xfrm xmlns:a="http://schemas.openxmlformats.org/drawingml/2006/main">
            <a:off x="990600" y="4305300"/>
            <a:ext cx="628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0">
                <a:solidFill>
                  <a:srgbClr val="25313C"/>
                </a:solidFill>
                <a:latin typeface="Arial"/>
                <a:ea typeface="Arial"/>
                <a:cs typeface="Arial"/>
              </a:defRPr>
            </a:pPr>
            <a:r>
              <a:rPr sz="1650" b="0">
                <a:solidFill>
                  <a:srgbClr val="25313C"/>
                </a:solidFill>
                <a:latin typeface="Arial"/>
                <a:ea typeface="Arial"/>
                <a:cs typeface="Arial"/>
              </a:rPr>
              <a:t>Surface, event level, round, best-of, draw size</a:t>
            </a:r>
          </a:p>
        </p:txBody>
      </p:sp>
      <p:sp>
        <p:nvSpPr>
          <p:cNvPr id="10" name="">
            <a:extLst xmlns:a="http://schemas.openxmlformats.org/drawingml/2006/main">
              <a:ext uri="{FF2B5EF4-FFF2-40B4-BE49-F238E27FC236}">
                <a16:creationId xmlns:a16="http://schemas.microsoft.com/office/drawing/2014/main" id="{29F2C517-F695-49EE-93B7-5ED08BEC853D}"/>
              </a:ext>
            </a:extLst>
          </p:cNvPr>
          <p:cNvSpPr>
            <a:spLocks xmlns:a="http://schemas.openxmlformats.org/drawingml/2006/main" noGrp="1"/>
          </p:cNvSpPr>
          <p:nvPr/>
        </p:nvSpPr>
        <p:spPr>
          <a:xfrm xmlns:a="http://schemas.openxmlformats.org/drawingml/2006/main">
            <a:off x="7858125" y="1257300"/>
            <a:ext cx="333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950" b="1">
                <a:solidFill>
                  <a:srgbClr val="347C55"/>
                </a:solidFill>
                <a:latin typeface="Arial"/>
                <a:ea typeface="Arial"/>
                <a:cs typeface="Arial"/>
              </a:defRPr>
            </a:pPr>
            <a:r>
              <a:rPr sz="1950" b="1">
                <a:solidFill>
                  <a:srgbClr val="347C55"/>
                </a:solidFill>
                <a:latin typeface="Arial"/>
                <a:ea typeface="Arial"/>
                <a:cs typeface="Arial"/>
              </a:rPr>
              <a:t>14-day history safeguard</a:t>
            </a:r>
          </a:p>
        </p:txBody>
      </p:sp>
      <p:sp>
        <p:nvSpPr>
          <p:cNvPr id="11" name="">
            <a:extLst xmlns:a="http://schemas.openxmlformats.org/drawingml/2006/main">
              <a:ext uri="{FF2B5EF4-FFF2-40B4-BE49-F238E27FC236}">
                <a16:creationId xmlns:a16="http://schemas.microsoft.com/office/drawing/2014/main" id="{DA3C6AE6-A817-4CA6-887A-C434F69DB243}"/>
              </a:ext>
            </a:extLst>
          </p:cNvPr>
          <p:cNvSpPr>
            <a:spLocks xmlns:a="http://schemas.openxmlformats.org/drawingml/2006/main" noGrp="1"/>
          </p:cNvSpPr>
          <p:nvPr/>
        </p:nvSpPr>
        <p:spPr>
          <a:xfrm xmlns:a="http://schemas.openxmlformats.org/drawingml/2006/main">
            <a:off x="7858125" y="1809750"/>
            <a:ext cx="32766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725" b="0">
                <a:solidFill>
                  <a:srgbClr val="17365D"/>
                </a:solidFill>
                <a:latin typeface="Arial"/>
                <a:ea typeface="Arial"/>
                <a:cs typeface="Arial"/>
              </a:defRPr>
            </a:pPr>
            <a:r>
              <a:rPr sz="1725" b="0">
                <a:solidFill>
                  <a:srgbClr val="17365D"/>
                </a:solidFill>
                <a:latin typeface="Arial"/>
                <a:ea typeface="Arial"/>
                <a:cs typeface="Arial"/>
              </a:rPr>
              <a:t>The source gives tournament start dates, not exact match dates. Prior event results enter player history only after 14 days.</a:t>
            </a:r>
          </a:p>
        </p:txBody>
      </p:sp>
      <p:sp>
        <p:nvSpPr>
          <p:cNvPr id="12" name="">
            <a:extLst xmlns:a="http://schemas.openxmlformats.org/drawingml/2006/main">
              <a:ext uri="{FF2B5EF4-FFF2-40B4-BE49-F238E27FC236}">
                <a16:creationId xmlns:a16="http://schemas.microsoft.com/office/drawing/2014/main" id="{92D852D5-D44B-462D-BDB0-A1D8383D83C0}"/>
              </a:ext>
            </a:extLst>
          </p:cNvPr>
          <p:cNvSpPr>
            <a:spLocks xmlns:a="http://schemas.openxmlformats.org/drawingml/2006/main" noGrp="1"/>
          </p:cNvSpPr>
          <p:nvPr/>
        </p:nvSpPr>
        <p:spPr>
          <a:xfrm xmlns:a="http://schemas.openxmlformats.org/drawingml/2006/main">
            <a:off x="7858125" y="3714750"/>
            <a:ext cx="32766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00" b="0">
                <a:solidFill>
                  <a:srgbClr val="526170"/>
                </a:solidFill>
                <a:latin typeface="Arial"/>
                <a:ea typeface="Arial"/>
                <a:cs typeface="Arial"/>
              </a:defRPr>
            </a:pPr>
            <a:r>
              <a:rPr sz="1500" b="0">
                <a:solidFill>
                  <a:srgbClr val="526170"/>
                </a:solidFill>
                <a:latin typeface="Arial"/>
                <a:ea typeface="Arial"/>
                <a:cs typeface="Arial"/>
              </a:rPr>
              <a:t>Current-match winner, score, duration, aces, and serve statistics are excluded because they are known only after play.</a:t>
            </a:r>
          </a:p>
        </p:txBody>
      </p:sp>
    </p:spTree>
    <p:extLst>
      <p:ext uri="{BB962C8B-B14F-4D97-AF65-F5344CB8AC3E}">
        <p14:creationId xmlns:p14="http://schemas.microsoft.com/office/powerpoint/2010/main" val="38670003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7E08205-931F-4E45-833F-E658EE43C3C8}"/>
              </a:ext>
            </a:extLst>
          </p:cNvPr>
          <p:cNvSpPr>
            <a:spLocks xmlns:a="http://schemas.openxmlformats.org/drawingml/2006/main" noGrp="1"/>
          </p:cNvSpPr>
          <p:nvPr/>
        </p:nvSpPr>
        <p:spPr>
          <a:xfrm xmlns:a="http://schemas.openxmlformats.org/drawingml/2006/main">
            <a:off x="685800" y="4000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150" b="1">
                <a:solidFill>
                  <a:srgbClr val="17365D"/>
                </a:solidFill>
                <a:latin typeface="Arial"/>
                <a:ea typeface="Arial"/>
                <a:cs typeface="Arial"/>
              </a:defRPr>
            </a:pPr>
            <a:r>
              <a:rPr sz="3150" b="1">
                <a:solidFill>
                  <a:srgbClr val="17365D"/>
                </a:solidFill>
                <a:latin typeface="Arial"/>
                <a:ea typeface="Arial"/>
                <a:cs typeface="Arial"/>
              </a:rPr>
              <a:t>Time split and hyperparameter tuning</a:t>
            </a:r>
          </a:p>
        </p:txBody>
      </p:sp>
      <p:sp>
        <p:nvSpPr>
          <p:cNvPr id="2" name="">
            <a:extLst xmlns:a="http://schemas.openxmlformats.org/drawingml/2006/main">
              <a:ext uri="{FF2B5EF4-FFF2-40B4-BE49-F238E27FC236}">
                <a16:creationId xmlns:a16="http://schemas.microsoft.com/office/drawing/2014/main" id="{343DCB38-289F-48EA-A6BE-5242C27410D3}"/>
              </a:ext>
            </a:extLst>
          </p:cNvPr>
          <p:cNvSpPr>
            <a:spLocks xmlns:a="http://schemas.openxmlformats.org/drawingml/2006/main" noGrp="1"/>
          </p:cNvSpPr>
          <p:nvPr/>
        </p:nvSpPr>
        <p:spPr>
          <a:xfrm xmlns:a="http://schemas.openxmlformats.org/drawingml/2006/main">
            <a:off x="685800" y="64198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050" b="0">
                <a:solidFill>
                  <a:srgbClr val="526170"/>
                </a:solidFill>
                <a:latin typeface="Arial"/>
                <a:ea typeface="Arial"/>
                <a:cs typeface="Arial"/>
              </a:defRPr>
            </a:pPr>
            <a:r>
              <a:rPr sz="1050" b="0">
                <a:solidFill>
                  <a:srgbClr val="526170"/>
                </a:solidFill>
                <a:latin typeface="Arial"/>
                <a:ea typeface="Arial"/>
                <a:cs typeface="Arial"/>
              </a:rPr>
              <a:t>ATP MATCH PREDICTION  |  04</a:t>
            </a:r>
          </a:p>
        </p:txBody>
      </p:sp>
      <p:sp>
        <p:nvSpPr>
          <p:cNvPr id="3" name="">
            <a:extLst xmlns:a="http://schemas.openxmlformats.org/drawingml/2006/main">
              <a:ext uri="{FF2B5EF4-FFF2-40B4-BE49-F238E27FC236}">
                <a16:creationId xmlns:a16="http://schemas.microsoft.com/office/drawing/2014/main" id="{41B1A657-F07B-4C14-910C-A679FEECB92A}"/>
              </a:ext>
            </a:extLst>
          </p:cNvPr>
          <p:cNvSpPr>
            <a:spLocks xmlns:a="http://schemas.openxmlformats.org/drawingml/2006/main" noGrp="1"/>
          </p:cNvSpPr>
          <p:nvPr/>
        </p:nvSpPr>
        <p:spPr>
          <a:xfrm xmlns:a="http://schemas.openxmlformats.org/drawingml/2006/main">
            <a:off x="781050" y="11811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75" b="1">
                <a:solidFill>
                  <a:srgbClr val="17365D"/>
                </a:solidFill>
                <a:latin typeface="Arial"/>
                <a:ea typeface="Arial"/>
                <a:cs typeface="Arial"/>
              </a:defRPr>
            </a:pPr>
            <a:r>
              <a:rPr sz="1875" b="1">
                <a:solidFill>
                  <a:srgbClr val="17365D"/>
                </a:solidFill>
                <a:latin typeface="Arial"/>
                <a:ea typeface="Arial"/>
                <a:cs typeface="Arial"/>
              </a:rPr>
              <a:t>Fit on 1991-2021, tune on 2022, refit through 2023, then test on 2024</a:t>
            </a:r>
          </a:p>
        </p:txBody>
      </p:sp>
      <p:sp>
        <p:nvSpPr>
          <p:cNvPr id="4" name="">
            <a:extLst xmlns:a="http://schemas.openxmlformats.org/drawingml/2006/main">
              <a:ext uri="{FF2B5EF4-FFF2-40B4-BE49-F238E27FC236}">
                <a16:creationId xmlns:a16="http://schemas.microsoft.com/office/drawing/2014/main" id="{898948C1-DBD9-4913-9EAA-674EEB499231}"/>
              </a:ext>
            </a:extLst>
          </p:cNvPr>
          <p:cNvSpPr>
            <a:spLocks xmlns:a="http://schemas.openxmlformats.org/drawingml/2006/main" noGrp="1"/>
          </p:cNvSpPr>
          <p:nvPr/>
        </p:nvSpPr>
        <p:spPr>
          <a:xfrm xmlns:a="http://schemas.openxmlformats.org/drawingml/2006/main">
            <a:off x="781050" y="17240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75" b="0">
                <a:solidFill>
                  <a:srgbClr val="526170"/>
                </a:solidFill>
                <a:latin typeface="Arial"/>
                <a:ea typeface="Arial"/>
                <a:cs typeface="Arial"/>
              </a:defRPr>
            </a:pPr>
            <a:r>
              <a:rPr sz="1575" b="0">
                <a:solidFill>
                  <a:srgbClr val="526170"/>
                </a:solidFill>
                <a:latin typeface="Arial"/>
                <a:ea typeface="Arial"/>
                <a:cs typeface="Arial"/>
              </a:rPr>
              <a:t>Compare predefined settings on 2022 validation accuracy. Keep 2024 out of tuning.</a:t>
            </a:r>
          </a:p>
        </p:txBody>
      </p:sp>
      <p:graphicFrame>
        <p:nvGraphicFramePr>
          <p:cNvPr id="11" name="">
            <a:extLst xmlns:a="http://schemas.openxmlformats.org/drawingml/2006/main">
              <a:ext uri="{FF2B5EF4-FFF2-40B4-BE49-F238E27FC236}">
                <a16:creationId xmlns:a16="http://schemas.microsoft.com/office/drawing/2014/main" id="{93733422-23F6-4526-B8EB-F2E79A578B6C}"/>
              </a:ext>
            </a:extLst>
          </p:cNvPr>
          <p:cNvGraphicFramePr/>
          <p:nvPr/>
        </p:nvGraphicFramePr>
        <p:xfrm>
          <a:off xmlns:a="http://schemas.openxmlformats.org/drawingml/2006/main" x="781050" y="2533650"/>
          <a:ext xmlns:a="http://schemas.openxmlformats.org/drawingml/2006/main" cx="10572750" cy="2362200"/>
        </p:xfrm>
        <a:graphic xmlns:a="http://schemas.openxmlformats.org/drawingml/2006/main">
          <a:graphicData uri="http://schemas.openxmlformats.org/drawingml/2006/table">
            <a:tbl>
              <a:tblPr firstRow="1" bandRow="1"/>
              <a:tblGrid>
                <a:gridCol w="2571750"/>
                <a:gridCol w="3524250"/>
                <a:gridCol w="2476500"/>
                <a:gridCol w="2000250"/>
              </a:tblGrid>
              <a:tr h="495300">
                <a:tc>
                  <a:txBody>
                    <a:bodyPr/>
                    <a:lstStyle/>
                    <a:p>
                      <a:r>
                        <a:rPr sz="1425" b="1">
                          <a:solidFill>
                            <a:srgbClr val="FFFFFF"/>
                          </a:solidFill>
                          <a:latin typeface="Arial"/>
                          <a:ea typeface="Arial"/>
                          <a:cs typeface="Arial"/>
                        </a:rPr>
                        <a:t>Model</a:t>
                      </a:r>
                    </a:p>
                  </a:txBody>
                  <a:tcPr marL="91440" marR="91440" marT="45720" marB="45720">
                    <a:solidFill>
                      <a:srgbClr val="17365D"/>
                    </a:solidFill>
                  </a:tcPr>
                </a:tc>
                <a:tc>
                  <a:txBody>
                    <a:bodyPr/>
                    <a:lstStyle/>
                    <a:p>
                      <a:r>
                        <a:rPr sz="1425" b="1">
                          <a:solidFill>
                            <a:srgbClr val="FFFFFF"/>
                          </a:solidFill>
                          <a:latin typeface="Arial"/>
                          <a:ea typeface="Arial"/>
                          <a:cs typeface="Arial"/>
                        </a:rPr>
                        <a:t>Settings searched</a:t>
                      </a:r>
                    </a:p>
                  </a:txBody>
                  <a:tcPr marL="91440" marR="91440" marT="45720" marB="45720">
                    <a:solidFill>
                      <a:srgbClr val="17365D"/>
                    </a:solidFill>
                  </a:tcPr>
                </a:tc>
                <a:tc>
                  <a:txBody>
                    <a:bodyPr/>
                    <a:lstStyle/>
                    <a:p>
                      <a:r>
                        <a:rPr sz="1425" b="1">
                          <a:solidFill>
                            <a:srgbClr val="FFFFFF"/>
                          </a:solidFill>
                          <a:latin typeface="Arial"/>
                          <a:ea typeface="Arial"/>
                          <a:cs typeface="Arial"/>
                        </a:rPr>
                        <a:t>Chosen setting</a:t>
                      </a:r>
                    </a:p>
                  </a:txBody>
                  <a:tcPr marL="91440" marR="91440" marT="45720" marB="45720">
                    <a:solidFill>
                      <a:srgbClr val="17365D"/>
                    </a:solidFill>
                  </a:tcPr>
                </a:tc>
                <a:tc>
                  <a:txBody>
                    <a:bodyPr/>
                    <a:lstStyle/>
                    <a:p>
                      <a:r>
                        <a:rPr sz="1425" b="1">
                          <a:solidFill>
                            <a:srgbClr val="FFFFFF"/>
                          </a:solidFill>
                          <a:latin typeface="Arial"/>
                          <a:ea typeface="Arial"/>
                          <a:cs typeface="Arial"/>
                        </a:rPr>
                        <a:t>2022 accuracy</a:t>
                      </a:r>
                    </a:p>
                  </a:txBody>
                  <a:tcPr marL="91440" marR="91440" marT="45720" marB="45720">
                    <a:solidFill>
                      <a:srgbClr val="17365D"/>
                    </a:solidFill>
                  </a:tcPr>
                </a:tc>
              </a:tr>
              <a:tr h="609600">
                <a:tc>
                  <a:txBody>
                    <a:bodyPr/>
                    <a:lstStyle/>
                    <a:p>
                      <a:r>
                        <a:rPr sz="1350">
                          <a:solidFill>
                            <a:srgbClr val="25313C"/>
                          </a:solidFill>
                          <a:latin typeface="Arial"/>
                          <a:ea typeface="Arial"/>
                          <a:cs typeface="Arial"/>
                        </a:rPr>
                        <a:t>Logistic regression</a:t>
                      </a:r>
                    </a:p>
                  </a:txBody>
                  <a:tcPr marL="91440" marR="91440" marT="45720" marB="45720">
                    <a:solidFill>
                      <a:srgbClr val="F2F5F8"/>
                    </a:solidFill>
                  </a:tcPr>
                </a:tc>
                <a:tc>
                  <a:txBody>
                    <a:bodyPr/>
                    <a:lstStyle/>
                    <a:p>
                      <a:r>
                        <a:rPr sz="1350">
                          <a:solidFill>
                            <a:srgbClr val="25313C"/>
                          </a:solidFill>
                          <a:latin typeface="Arial"/>
                          <a:ea typeface="Arial"/>
                          <a:cs typeface="Arial"/>
                        </a:rPr>
                        <a:t>C: 0.01, 0.1, 1, 10</a:t>
                      </a:r>
                    </a:p>
                  </a:txBody>
                  <a:tcPr marL="91440" marR="91440" marT="45720" marB="45720">
                    <a:solidFill>
                      <a:srgbClr val="F2F5F8"/>
                    </a:solidFill>
                  </a:tcPr>
                </a:tc>
                <a:tc>
                  <a:txBody>
                    <a:bodyPr/>
                    <a:lstStyle/>
                    <a:p>
                      <a:r>
                        <a:rPr sz="1350">
                          <a:solidFill>
                            <a:srgbClr val="25313C"/>
                          </a:solidFill>
                          <a:latin typeface="Arial"/>
                          <a:ea typeface="Arial"/>
                          <a:cs typeface="Arial"/>
                        </a:rPr>
                        <a:t>C = 0.01</a:t>
                      </a:r>
                    </a:p>
                  </a:txBody>
                  <a:tcPr marL="91440" marR="91440" marT="45720" marB="45720">
                    <a:solidFill>
                      <a:srgbClr val="F2F5F8"/>
                    </a:solidFill>
                  </a:tcPr>
                </a:tc>
                <a:tc>
                  <a:txBody>
                    <a:bodyPr/>
                    <a:lstStyle/>
                    <a:p>
                      <a:r>
                        <a:rPr sz="1350">
                          <a:solidFill>
                            <a:srgbClr val="25313C"/>
                          </a:solidFill>
                          <a:latin typeface="Arial"/>
                          <a:ea typeface="Arial"/>
                          <a:cs typeface="Arial"/>
                        </a:rPr>
                        <a:t>66.04%</a:t>
                      </a:r>
                    </a:p>
                  </a:txBody>
                  <a:tcPr marL="91440" marR="91440" marT="45720" marB="45720">
                    <a:solidFill>
                      <a:srgbClr val="F2F5F8"/>
                    </a:solidFill>
                  </a:tcPr>
                </a:tc>
              </a:tr>
              <a:tr h="609600">
                <a:tc>
                  <a:txBody>
                    <a:bodyPr/>
                    <a:lstStyle/>
                    <a:p>
                      <a:r>
                        <a:rPr sz="1350">
                          <a:solidFill>
                            <a:srgbClr val="25313C"/>
                          </a:solidFill>
                          <a:latin typeface="Arial"/>
                          <a:ea typeface="Arial"/>
                          <a:cs typeface="Arial"/>
                        </a:rPr>
                        <a:t>Linear SVM</a:t>
                      </a:r>
                    </a:p>
                  </a:txBody>
                  <a:tcPr marL="91440" marR="91440" marT="45720" marB="45720">
                    <a:solidFill>
                      <a:srgbClr val="FFFFFF"/>
                    </a:solidFill>
                  </a:tcPr>
                </a:tc>
                <a:tc>
                  <a:txBody>
                    <a:bodyPr/>
                    <a:lstStyle/>
                    <a:p>
                      <a:r>
                        <a:rPr sz="1350">
                          <a:solidFill>
                            <a:srgbClr val="25313C"/>
                          </a:solidFill>
                          <a:latin typeface="Arial"/>
                          <a:ea typeface="Arial"/>
                          <a:cs typeface="Arial"/>
                        </a:rPr>
                        <a:t>C: 0.01, 0.1, 1, 10</a:t>
                      </a:r>
                    </a:p>
                  </a:txBody>
                  <a:tcPr marL="91440" marR="91440" marT="45720" marB="45720">
                    <a:solidFill>
                      <a:srgbClr val="FFFFFF"/>
                    </a:solidFill>
                  </a:tcPr>
                </a:tc>
                <a:tc>
                  <a:txBody>
                    <a:bodyPr/>
                    <a:lstStyle/>
                    <a:p>
                      <a:r>
                        <a:rPr sz="1350">
                          <a:solidFill>
                            <a:srgbClr val="25313C"/>
                          </a:solidFill>
                          <a:latin typeface="Arial"/>
                          <a:ea typeface="Arial"/>
                          <a:cs typeface="Arial"/>
                        </a:rPr>
                        <a:t>C = 0.01</a:t>
                      </a:r>
                    </a:p>
                  </a:txBody>
                  <a:tcPr marL="91440" marR="91440" marT="45720" marB="45720">
                    <a:solidFill>
                      <a:srgbClr val="FFFFFF"/>
                    </a:solidFill>
                  </a:tcPr>
                </a:tc>
                <a:tc>
                  <a:txBody>
                    <a:bodyPr/>
                    <a:lstStyle/>
                    <a:p>
                      <a:r>
                        <a:rPr sz="1350">
                          <a:solidFill>
                            <a:srgbClr val="25313C"/>
                          </a:solidFill>
                          <a:latin typeface="Arial"/>
                          <a:ea typeface="Arial"/>
                          <a:cs typeface="Arial"/>
                        </a:rPr>
                        <a:t>65.89%</a:t>
                      </a:r>
                    </a:p>
                  </a:txBody>
                  <a:tcPr marL="91440" marR="91440" marT="45720" marB="45720">
                    <a:solidFill>
                      <a:srgbClr val="FFFFFF"/>
                    </a:solidFill>
                  </a:tcPr>
                </a:tc>
              </a:tr>
              <a:tr h="609600">
                <a:tc>
                  <a:txBody>
                    <a:bodyPr/>
                    <a:lstStyle/>
                    <a:p>
                      <a:r>
                        <a:rPr sz="1350">
                          <a:solidFill>
                            <a:srgbClr val="25313C"/>
                          </a:solidFill>
                          <a:latin typeface="Arial"/>
                          <a:ea typeface="Arial"/>
                          <a:cs typeface="Arial"/>
                        </a:rPr>
                        <a:t>Random forest</a:t>
                      </a:r>
                    </a:p>
                  </a:txBody>
                  <a:tcPr marL="91440" marR="91440" marT="45720" marB="45720">
                    <a:solidFill>
                      <a:srgbClr val="F2F5F8"/>
                    </a:solidFill>
                  </a:tcPr>
                </a:tc>
                <a:tc>
                  <a:txBody>
                    <a:bodyPr/>
                    <a:lstStyle/>
                    <a:p>
                      <a:r>
                        <a:rPr sz="1350">
                          <a:solidFill>
                            <a:srgbClr val="25313C"/>
                          </a:solidFill>
                          <a:latin typeface="Arial"/>
                          <a:ea typeface="Arial"/>
                          <a:cs typeface="Arial"/>
                        </a:rPr>
                        <a:t>Depth: None/20; leaf: 1/3</a:t>
                      </a:r>
                    </a:p>
                  </a:txBody>
                  <a:tcPr marL="91440" marR="91440" marT="45720" marB="45720">
                    <a:solidFill>
                      <a:srgbClr val="F2F5F8"/>
                    </a:solidFill>
                  </a:tcPr>
                </a:tc>
                <a:tc>
                  <a:txBody>
                    <a:bodyPr/>
                    <a:lstStyle/>
                    <a:p>
                      <a:r>
                        <a:rPr sz="1350">
                          <a:solidFill>
                            <a:srgbClr val="25313C"/>
                          </a:solidFill>
                          <a:latin typeface="Arial"/>
                          <a:ea typeface="Arial"/>
                          <a:cs typeface="Arial"/>
                        </a:rPr>
                        <a:t>Depth 20; leaf 3</a:t>
                      </a:r>
                    </a:p>
                  </a:txBody>
                  <a:tcPr marL="91440" marR="91440" marT="45720" marB="45720">
                    <a:solidFill>
                      <a:srgbClr val="F2F5F8"/>
                    </a:solidFill>
                  </a:tcPr>
                </a:tc>
                <a:tc>
                  <a:txBody>
                    <a:bodyPr/>
                    <a:lstStyle/>
                    <a:p>
                      <a:r>
                        <a:rPr sz="1350">
                          <a:solidFill>
                            <a:srgbClr val="25313C"/>
                          </a:solidFill>
                          <a:latin typeface="Arial"/>
                          <a:ea typeface="Arial"/>
                          <a:cs typeface="Arial"/>
                        </a:rPr>
                        <a:t>66.37%</a:t>
                      </a:r>
                    </a:p>
                  </a:txBody>
                  <a:tcPr marL="91440" marR="91440" marT="45720" marB="45720">
                    <a:solidFill>
                      <a:srgbClr val="F2F5F8"/>
                    </a:solidFill>
                  </a:tcPr>
                </a:tc>
              </a:tr>
            </a:tbl>
          </a:graphicData>
        </a:graphic>
      </p:graphicFrame>
      <p:sp>
        <p:nvSpPr>
          <p:cNvPr id="6" name="">
            <a:extLst xmlns:a="http://schemas.openxmlformats.org/drawingml/2006/main">
              <a:ext uri="{FF2B5EF4-FFF2-40B4-BE49-F238E27FC236}">
                <a16:creationId xmlns:a16="http://schemas.microsoft.com/office/drawing/2014/main" id="{5090806E-B97B-4970-BFE9-B8F994422A8D}"/>
              </a:ext>
            </a:extLst>
          </p:cNvPr>
          <p:cNvSpPr>
            <a:spLocks xmlns:a="http://schemas.openxmlformats.org/drawingml/2006/main" noGrp="1"/>
          </p:cNvSpPr>
          <p:nvPr/>
        </p:nvSpPr>
        <p:spPr>
          <a:xfrm xmlns:a="http://schemas.openxmlformats.org/drawingml/2006/main">
            <a:off x="781050" y="531495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00" b="0">
                <a:solidFill>
                  <a:srgbClr val="526170"/>
                </a:solidFill>
                <a:latin typeface="Arial"/>
                <a:ea typeface="Arial"/>
                <a:cs typeface="Arial"/>
              </a:defRPr>
            </a:pPr>
            <a:r>
              <a:rPr sz="1500" b="0">
                <a:solidFill>
                  <a:srgbClr val="526170"/>
                </a:solidFill>
                <a:latin typeface="Arial"/>
                <a:ea typeface="Arial"/>
                <a:cs typeface="Arial"/>
              </a:rPr>
              <a:t>Random forest uses 200 trees and sqrt feature sampling. Imputation, encoding, and scaling fit on training data only.</a:t>
            </a:r>
          </a:p>
        </p:txBody>
      </p:sp>
    </p:spTree>
    <p:extLst>
      <p:ext uri="{BB962C8B-B14F-4D97-AF65-F5344CB8AC3E}">
        <p14:creationId xmlns:p14="http://schemas.microsoft.com/office/powerpoint/2010/main" val="38165995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98A1572-30F7-4253-85EF-3901D352DC4D}"/>
              </a:ext>
            </a:extLst>
          </p:cNvPr>
          <p:cNvSpPr>
            <a:spLocks xmlns:a="http://schemas.openxmlformats.org/drawingml/2006/main" noGrp="1"/>
          </p:cNvSpPr>
          <p:nvPr/>
        </p:nvSpPr>
        <p:spPr>
          <a:xfrm xmlns:a="http://schemas.openxmlformats.org/drawingml/2006/main">
            <a:off x="685800" y="4000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150" b="1">
                <a:solidFill>
                  <a:srgbClr val="17365D"/>
                </a:solidFill>
                <a:latin typeface="Arial"/>
                <a:ea typeface="Arial"/>
                <a:cs typeface="Arial"/>
              </a:defRPr>
            </a:pPr>
            <a:r>
              <a:rPr sz="3150" b="1">
                <a:solidFill>
                  <a:srgbClr val="17365D"/>
                </a:solidFill>
                <a:latin typeface="Arial"/>
                <a:ea typeface="Arial"/>
                <a:cs typeface="Arial"/>
              </a:rPr>
              <a:t>2024 held-out results</a:t>
            </a:r>
          </a:p>
        </p:txBody>
      </p:sp>
      <p:sp>
        <p:nvSpPr>
          <p:cNvPr id="2" name="">
            <a:extLst xmlns:a="http://schemas.openxmlformats.org/drawingml/2006/main">
              <a:ext uri="{FF2B5EF4-FFF2-40B4-BE49-F238E27FC236}">
                <a16:creationId xmlns:a16="http://schemas.microsoft.com/office/drawing/2014/main" id="{5DB2512D-7E93-4547-AE0B-1C5FCBEB930F}"/>
              </a:ext>
            </a:extLst>
          </p:cNvPr>
          <p:cNvSpPr>
            <a:spLocks xmlns:a="http://schemas.openxmlformats.org/drawingml/2006/main" noGrp="1"/>
          </p:cNvSpPr>
          <p:nvPr/>
        </p:nvSpPr>
        <p:spPr>
          <a:xfrm xmlns:a="http://schemas.openxmlformats.org/drawingml/2006/main">
            <a:off x="685800" y="64198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050" b="0">
                <a:solidFill>
                  <a:srgbClr val="526170"/>
                </a:solidFill>
                <a:latin typeface="Arial"/>
                <a:ea typeface="Arial"/>
                <a:cs typeface="Arial"/>
              </a:defRPr>
            </a:pPr>
            <a:r>
              <a:rPr sz="1050" b="0">
                <a:solidFill>
                  <a:srgbClr val="526170"/>
                </a:solidFill>
                <a:latin typeface="Arial"/>
                <a:ea typeface="Arial"/>
                <a:cs typeface="Arial"/>
              </a:rPr>
              <a:t>ATP MATCH PREDICTION  |  05</a:t>
            </a:r>
          </a:p>
        </p:txBody>
      </p:sp>
      <p:sp>
        <p:nvSpPr>
          <p:cNvPr id="4" name="">
            <a:extLst xmlns:a="http://schemas.openxmlformats.org/drawingml/2006/main">
              <a:ext uri="{FF2B5EF4-FFF2-40B4-BE49-F238E27FC236}">
                <a16:creationId xmlns:a16="http://schemas.microsoft.com/office/drawing/2014/main" id="{6040599B-FDA8-4914-B913-C8CA9A9127B9}"/>
              </a:ext>
            </a:extLst>
          </p:cNvPr>
          <p:cNvSpPr>
            <a:spLocks xmlns:a="http://schemas.openxmlformats.org/drawingml/2006/main" noGrp="1"/>
          </p:cNvSpPr>
          <p:nvPr/>
        </p:nvSpPr>
        <p:spPr>
          <a:xfrm xmlns:a="http://schemas.openxmlformats.org/drawingml/2006/main">
            <a:off x="914400" y="5562600"/>
            <a:ext cx="1028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350" b="0">
                <a:solidFill>
                  <a:srgbClr val="526170"/>
                </a:solidFill>
                <a:latin typeface="Arial"/>
                <a:ea typeface="Arial"/>
                <a:cs typeface="Arial"/>
              </a:defRPr>
            </a:pPr>
            <a:r>
              <a:rPr sz="1350" b="0">
                <a:solidFill>
                  <a:srgbClr val="526170"/>
                </a:solidFill>
                <a:latin typeface="Arial"/>
                <a:ea typeface="Arial"/>
                <a:cs typeface="Arial"/>
              </a:rPr>
              <a:t>The test chart compares the four methods on the same 2,810 matches with both ranks recorded. Logistic regression scored 65.30% on this subset and 65.34% across all 2,816 test matches.</a:t>
            </a:r>
          </a:p>
        </p:txBody>
      </p:sp>
      <p:graphicFrame>
        <p:nvGraphicFramePr>
          <p:cNvPr id="6" name="Chart">
            <a:extLst xmlns:a="http://schemas.openxmlformats.org/drawingml/2006/main">
              <a:ext uri="{FF2B5EF4-FFF2-40B4-BE49-F238E27FC236}">
                <a16:creationId xmlns:a16="http://schemas.microsoft.com/office/drawing/2014/main" id="{5A2E9C30-4905-4B24-BE55-556035BC5A07}"/>
              </a:ext>
            </a:extLst>
          </p:cNvPr>
          <p:cNvGraphicFramePr/>
          <p:nvPr/>
        </p:nvGraphicFramePr>
        <p:xfrm>
          <a:off xmlns:a="http://schemas.openxmlformats.org/drawingml/2006/main" x="723900" y="1428750"/>
          <a:ext xmlns:a="http://schemas.openxmlformats.org/drawingml/2006/main" cx="5238750" cy="3667125"/>
        </p:xfrm>
        <a:graphic xmlns:a="http://schemas.openxmlformats.org/drawingml/2006/main">
          <a:graphicData uri="http://schemas.openxmlformats.org/drawingml/2006/chart">
            <c:chart xmlns:r="http://schemas.openxmlformats.org/officeDocument/2006/relationships" xmlns:c="http://schemas.openxmlformats.org/drawingml/2006/chart" r:id="R8353b3977381458e"/>
          </a:graphicData>
        </a:graphic>
      </p:graphicFrame>
      <p:graphicFrame>
        <p:nvGraphicFramePr>
          <p:cNvPr id="7" name="Chart">
            <a:extLst xmlns:a="http://schemas.openxmlformats.org/drawingml/2006/main">
              <a:ext uri="{FF2B5EF4-FFF2-40B4-BE49-F238E27FC236}">
                <a16:creationId xmlns:a16="http://schemas.microsoft.com/office/drawing/2014/main" id="{67A5AABD-0652-4C02-B448-22D5DA0B998F}"/>
              </a:ext>
            </a:extLst>
          </p:cNvPr>
          <p:cNvGraphicFramePr/>
          <p:nvPr/>
        </p:nvGraphicFramePr>
        <p:xfrm>
          <a:off xmlns:a="http://schemas.openxmlformats.org/drawingml/2006/main" x="6210300" y="1428750"/>
          <a:ext xmlns:a="http://schemas.openxmlformats.org/drawingml/2006/main" cx="5238750" cy="3667125"/>
        </p:xfrm>
        <a:graphic xmlns:a="http://schemas.openxmlformats.org/drawingml/2006/main">
          <a:graphicData uri="http://schemas.openxmlformats.org/drawingml/2006/chart">
            <c:chart xmlns:r="http://schemas.openxmlformats.org/officeDocument/2006/relationships" xmlns:c="http://schemas.openxmlformats.org/drawingml/2006/chart" r:id="R6bd4b369862a408a"/>
          </a:graphicData>
        </a:graphic>
      </p:graphicFrame>
    </p:spTree>
    <p:extLst>
      <p:ext uri="{BB962C8B-B14F-4D97-AF65-F5344CB8AC3E}">
        <p14:creationId xmlns:p14="http://schemas.microsoft.com/office/powerpoint/2010/main" val="102114265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182FC3C-9526-464D-9EF4-68B4B2F67973}"/>
              </a:ext>
            </a:extLst>
          </p:cNvPr>
          <p:cNvSpPr>
            <a:spLocks xmlns:a="http://schemas.openxmlformats.org/drawingml/2006/main" noGrp="1"/>
          </p:cNvSpPr>
          <p:nvPr/>
        </p:nvSpPr>
        <p:spPr>
          <a:xfrm xmlns:a="http://schemas.openxmlformats.org/drawingml/2006/main">
            <a:off x="685800" y="40005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150" b="1">
                <a:solidFill>
                  <a:srgbClr val="17365D"/>
                </a:solidFill>
                <a:latin typeface="Arial"/>
                <a:ea typeface="Arial"/>
                <a:cs typeface="Arial"/>
              </a:defRPr>
            </a:pPr>
            <a:r>
              <a:rPr sz="3150" b="1">
                <a:solidFill>
                  <a:srgbClr val="17365D"/>
                </a:solidFill>
                <a:latin typeface="Arial"/>
                <a:ea typeface="Arial"/>
                <a:cs typeface="Arial"/>
              </a:rPr>
              <a:t>Conclusion and demonstration</a:t>
            </a:r>
          </a:p>
        </p:txBody>
      </p:sp>
      <p:sp>
        <p:nvSpPr>
          <p:cNvPr id="2" name="">
            <a:extLst xmlns:a="http://schemas.openxmlformats.org/drawingml/2006/main">
              <a:ext uri="{FF2B5EF4-FFF2-40B4-BE49-F238E27FC236}">
                <a16:creationId xmlns:a16="http://schemas.microsoft.com/office/drawing/2014/main" id="{CD9E6FB6-F629-4988-8723-7A42472A1EE0}"/>
              </a:ext>
            </a:extLst>
          </p:cNvPr>
          <p:cNvSpPr>
            <a:spLocks xmlns:a="http://schemas.openxmlformats.org/drawingml/2006/main" noGrp="1"/>
          </p:cNvSpPr>
          <p:nvPr/>
        </p:nvSpPr>
        <p:spPr>
          <a:xfrm xmlns:a="http://schemas.openxmlformats.org/drawingml/2006/main">
            <a:off x="685800" y="64198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050" b="0">
                <a:solidFill>
                  <a:srgbClr val="526170"/>
                </a:solidFill>
                <a:latin typeface="Arial"/>
                <a:ea typeface="Arial"/>
                <a:cs typeface="Arial"/>
              </a:defRPr>
            </a:pPr>
            <a:r>
              <a:rPr sz="1050" b="0">
                <a:solidFill>
                  <a:srgbClr val="526170"/>
                </a:solidFill>
                <a:latin typeface="Arial"/>
                <a:ea typeface="Arial"/>
                <a:cs typeface="Arial"/>
              </a:rPr>
              <a:t>ATP MATCH PREDICTION  |  06</a:t>
            </a:r>
          </a:p>
        </p:txBody>
      </p:sp>
      <p:sp>
        <p:nvSpPr>
          <p:cNvPr id="3" name="">
            <a:extLst xmlns:a="http://schemas.openxmlformats.org/drawingml/2006/main">
              <a:ext uri="{FF2B5EF4-FFF2-40B4-BE49-F238E27FC236}">
                <a16:creationId xmlns:a16="http://schemas.microsoft.com/office/drawing/2014/main" id="{91EA699B-133D-4186-B2B7-A5A5F6199672}"/>
              </a:ext>
            </a:extLst>
          </p:cNvPr>
          <p:cNvSpPr>
            <a:spLocks xmlns:a="http://schemas.openxmlformats.org/drawingml/2006/main" noGrp="1"/>
          </p:cNvSpPr>
          <p:nvPr/>
        </p:nvSpPr>
        <p:spPr>
          <a:xfrm xmlns:a="http://schemas.openxmlformats.org/drawingml/2006/main">
            <a:off x="781050" y="1285875"/>
            <a:ext cx="581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950" b="1">
                <a:solidFill>
                  <a:srgbClr val="347C55"/>
                </a:solidFill>
                <a:latin typeface="Arial"/>
                <a:ea typeface="Arial"/>
                <a:cs typeface="Arial"/>
              </a:defRPr>
            </a:pPr>
            <a:r>
              <a:rPr sz="1950" b="1">
                <a:solidFill>
                  <a:srgbClr val="347C55"/>
                </a:solidFill>
                <a:latin typeface="Arial"/>
                <a:ea typeface="Arial"/>
                <a:cs typeface="Arial"/>
              </a:rPr>
              <a:t>What the evaluation shows</a:t>
            </a:r>
          </a:p>
        </p:txBody>
      </p:sp>
      <p:sp>
        <p:nvSpPr>
          <p:cNvPr id="4" name="">
            <a:extLst xmlns:a="http://schemas.openxmlformats.org/drawingml/2006/main">
              <a:ext uri="{FF2B5EF4-FFF2-40B4-BE49-F238E27FC236}">
                <a16:creationId xmlns:a16="http://schemas.microsoft.com/office/drawing/2014/main" id="{DF9CF893-1226-4CBB-8EBA-1458B4C6E532}"/>
              </a:ext>
            </a:extLst>
          </p:cNvPr>
          <p:cNvSpPr>
            <a:spLocks xmlns:a="http://schemas.openxmlformats.org/drawingml/2006/main" noGrp="1"/>
          </p:cNvSpPr>
          <p:nvPr/>
        </p:nvSpPr>
        <p:spPr>
          <a:xfrm xmlns:a="http://schemas.openxmlformats.org/drawingml/2006/main">
            <a:off x="781050" y="1809750"/>
            <a:ext cx="50958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100" b="1">
                <a:solidFill>
                  <a:srgbClr val="17365D"/>
                </a:solidFill>
                <a:latin typeface="Arial"/>
                <a:ea typeface="Arial"/>
                <a:cs typeface="Arial"/>
              </a:defRPr>
            </a:pPr>
            <a:r>
              <a:rPr sz="2100" b="1">
                <a:solidFill>
                  <a:srgbClr val="17365D"/>
                </a:solidFill>
                <a:latin typeface="Arial"/>
                <a:ea typeface="Arial"/>
                <a:cs typeface="Arial"/>
              </a:rPr>
              <a:t>Logistic regression led the 2024 test at 65.34%. All three models beat the ranking baseline on the shared matches.</a:t>
            </a:r>
          </a:p>
        </p:txBody>
      </p:sp>
      <p:sp>
        <p:nvSpPr>
          <p:cNvPr id="5" name="">
            <a:extLst xmlns:a="http://schemas.openxmlformats.org/drawingml/2006/main">
              <a:ext uri="{FF2B5EF4-FFF2-40B4-BE49-F238E27FC236}">
                <a16:creationId xmlns:a16="http://schemas.microsoft.com/office/drawing/2014/main" id="{04FF7470-7978-411E-94B5-40114CBB30AD}"/>
              </a:ext>
            </a:extLst>
          </p:cNvPr>
          <p:cNvSpPr>
            <a:spLocks xmlns:a="http://schemas.openxmlformats.org/drawingml/2006/main" noGrp="1"/>
          </p:cNvSpPr>
          <p:nvPr/>
        </p:nvSpPr>
        <p:spPr>
          <a:xfrm xmlns:a="http://schemas.openxmlformats.org/drawingml/2006/main">
            <a:off x="781050" y="3362325"/>
            <a:ext cx="50958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75" b="0">
                <a:solidFill>
                  <a:srgbClr val="25313C"/>
                </a:solidFill>
                <a:latin typeface="Arial"/>
                <a:ea typeface="Arial"/>
                <a:cs typeface="Arial"/>
              </a:defRPr>
            </a:pPr>
            <a:r>
              <a:rPr sz="1575" b="0">
                <a:solidFill>
                  <a:srgbClr val="25313C"/>
                </a:solidFill>
                <a:latin typeface="Arial"/>
                <a:ea typeface="Arial"/>
                <a:cs typeface="Arial"/>
              </a:rPr>
              <a:t>Random forest had the highest 2022 validation accuracy at 66.37%. The 2024 season was reserved for evaluation, not tuning.</a:t>
            </a:r>
          </a:p>
        </p:txBody>
      </p:sp>
      <p:sp>
        <p:nvSpPr>
          <p:cNvPr id="6" name="">
            <a:extLst xmlns:a="http://schemas.openxmlformats.org/drawingml/2006/main">
              <a:ext uri="{FF2B5EF4-FFF2-40B4-BE49-F238E27FC236}">
                <a16:creationId xmlns:a16="http://schemas.microsoft.com/office/drawing/2014/main" id="{F0C5283B-3FAF-48A4-AAE6-16DFC5D18336}"/>
              </a:ext>
            </a:extLst>
          </p:cNvPr>
          <p:cNvSpPr>
            <a:spLocks xmlns:a="http://schemas.openxmlformats.org/drawingml/2006/main" noGrp="1"/>
          </p:cNvSpPr>
          <p:nvPr/>
        </p:nvSpPr>
        <p:spPr>
          <a:xfrm xmlns:a="http://schemas.openxmlformats.org/drawingml/2006/main">
            <a:off x="6762750" y="1285875"/>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950" b="1">
                <a:solidFill>
                  <a:srgbClr val="347C55"/>
                </a:solidFill>
                <a:latin typeface="Arial"/>
                <a:ea typeface="Arial"/>
                <a:cs typeface="Arial"/>
              </a:defRPr>
            </a:pPr>
            <a:r>
              <a:rPr sz="1950" b="1">
                <a:solidFill>
                  <a:srgbClr val="347C55"/>
                </a:solidFill>
                <a:latin typeface="Arial"/>
                <a:ea typeface="Arial"/>
                <a:cs typeface="Arial"/>
              </a:rPr>
              <a:t>Live demonstration</a:t>
            </a:r>
          </a:p>
        </p:txBody>
      </p:sp>
      <p:sp>
        <p:nvSpPr>
          <p:cNvPr id="7" name="">
            <a:extLst xmlns:a="http://schemas.openxmlformats.org/drawingml/2006/main">
              <a:ext uri="{FF2B5EF4-FFF2-40B4-BE49-F238E27FC236}">
                <a16:creationId xmlns:a16="http://schemas.microsoft.com/office/drawing/2014/main" id="{87B0154D-A34B-464D-A444-B3CD30A2481F}"/>
              </a:ext>
            </a:extLst>
          </p:cNvPr>
          <p:cNvSpPr>
            <a:spLocks xmlns:a="http://schemas.openxmlformats.org/drawingml/2006/main" noGrp="1"/>
          </p:cNvSpPr>
          <p:nvPr/>
        </p:nvSpPr>
        <p:spPr>
          <a:xfrm xmlns:a="http://schemas.openxmlformats.org/drawingml/2006/main">
            <a:off x="6762750" y="1828800"/>
            <a:ext cx="4381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0">
                <a:solidFill>
                  <a:srgbClr val="25313C"/>
                </a:solidFill>
                <a:latin typeface="Arial"/>
                <a:ea typeface="Arial"/>
                <a:cs typeface="Arial"/>
              </a:defRPr>
            </a:pPr>
            <a:r>
              <a:rPr sz="1650" b="0">
                <a:solidFill>
                  <a:srgbClr val="25313C"/>
                </a:solidFill>
                <a:latin typeface="Arial"/>
                <a:ea typeface="Arial"/>
                <a:cs typeface="Arial"/>
              </a:rPr>
              <a:t>Run: python tennis_match_prediction.py</a:t>
            </a:r>
          </a:p>
          <a:p xmlns:a="http://schemas.openxmlformats.org/drawingml/2006/main">
            <a:pPr>
              <a:buNone/>
              <a:defRPr sz="1650" b="0">
                <a:solidFill>
                  <a:srgbClr val="25313C"/>
                </a:solidFill>
                <a:latin typeface="Arial"/>
                <a:ea typeface="Arial"/>
                <a:cs typeface="Arial"/>
              </a:defRPr>
            </a:pPr>
            <a:r>
              <a:rPr sz="1650" b="0">
                <a:solidFill>
                  <a:srgbClr val="25313C"/>
                </a:solidFill>
                <a:latin typeface="Arial"/>
                <a:ea typeface="Arial"/>
                <a:cs typeface="Arial"/>
              </a:rPr>
              <a:t>Show the 2022 tuning table and 2024 metrics.</a:t>
            </a:r>
          </a:p>
          <a:p xmlns:a="http://schemas.openxmlformats.org/drawingml/2006/main">
            <a:pPr>
              <a:buNone/>
              <a:defRPr sz="1650" b="0">
                <a:solidFill>
                  <a:srgbClr val="25313C"/>
                </a:solidFill>
                <a:latin typeface="Arial"/>
                <a:ea typeface="Arial"/>
                <a:cs typeface="Arial"/>
              </a:defRPr>
            </a:pPr>
            <a:r>
              <a:rPr sz="1650" b="0">
                <a:solidFill>
                  <a:srgbClr val="25313C"/>
                </a:solidFill>
                <a:latin typeface="Arial"/>
                <a:ea typeface="Arial"/>
                <a:cs typeface="Arial"/>
              </a:rPr>
              <a:t>Explain the feature history and 14-day gap.</a:t>
            </a:r>
          </a:p>
        </p:txBody>
      </p:sp>
      <p:sp>
        <p:nvSpPr>
          <p:cNvPr id="8" name="">
            <a:extLst xmlns:a="http://schemas.openxmlformats.org/drawingml/2006/main">
              <a:ext uri="{FF2B5EF4-FFF2-40B4-BE49-F238E27FC236}">
                <a16:creationId xmlns:a16="http://schemas.microsoft.com/office/drawing/2014/main" id="{474060D7-3AE1-4E6B-B619-655A56EDD71D}"/>
              </a:ext>
            </a:extLst>
          </p:cNvPr>
          <p:cNvSpPr>
            <a:spLocks xmlns:a="http://schemas.openxmlformats.org/drawingml/2006/main" noGrp="1"/>
          </p:cNvSpPr>
          <p:nvPr/>
        </p:nvSpPr>
        <p:spPr>
          <a:xfrm xmlns:a="http://schemas.openxmlformats.org/drawingml/2006/main">
            <a:off x="6762750" y="4000500"/>
            <a:ext cx="433387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425" b="0">
                <a:solidFill>
                  <a:srgbClr val="526170"/>
                </a:solidFill>
                <a:latin typeface="Arial"/>
                <a:ea typeface="Arial"/>
                <a:cs typeface="Arial"/>
              </a:defRPr>
            </a:pPr>
            <a:r>
              <a:rPr sz="1425" b="0">
                <a:solidFill>
                  <a:srgbClr val="526170"/>
                </a:solidFill>
                <a:latin typeface="Arial"/>
                <a:ea typeface="Arial"/>
                <a:cs typeface="Arial"/>
              </a:rPr>
              <a:t>Limits: ATP main-tour data only; no exact match dates, injuries, or odds. The 14-day gap can make recent-form features less current.</a:t>
            </a:r>
          </a:p>
        </p:txBody>
      </p:sp>
    </p:spTree>
    <p:extLst>
      <p:ext uri="{BB962C8B-B14F-4D97-AF65-F5344CB8AC3E}">
        <p14:creationId xmlns:p14="http://schemas.microsoft.com/office/powerpoint/2010/main" val="3514707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2026-10-08T03:39:55.0310000Z</dcterms:created>
  <dcterms:modified xsi:type="dcterms:W3CDTF">2026-10-08T03:39:55.0310000Z</dcterms:modified>
</coreProperties>
</file>