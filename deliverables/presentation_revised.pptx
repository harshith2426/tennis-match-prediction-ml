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ca18fd02434735" /><Relationship Type="http://schemas.openxmlformats.org/officeDocument/2006/relationships/extended-properties" Target="/docProps/app.xml" Id="R89850900b5a040c5" /><Relationship Type="http://schemas.openxmlformats.org/officeDocument/2006/relationships/officeDocument" Target="/ppt/presentation.xml" Id="Rfe3695b2fa084b2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a21f379ca04c59"/>
  </p:sldMasterIdLst>
  <p:notesMasterIdLst>
    <p:notesMasterId xmlns:r="http://schemas.openxmlformats.org/officeDocument/2006/relationships" r:id="R89158ab70a24426e"/>
  </p:notesMasterIdLst>
  <p:sldIdLst>
    <p:sldId xmlns:r="http://schemas.openxmlformats.org/officeDocument/2006/relationships" id="256" r:id="R5cc3aec9a38d467c"/>
    <p:sldId xmlns:r="http://schemas.openxmlformats.org/officeDocument/2006/relationships" id="257" r:id="R97c0205afa644d79"/>
    <p:sldId xmlns:r="http://schemas.openxmlformats.org/officeDocument/2006/relationships" id="258" r:id="R47bdbf07c04d46df"/>
    <p:sldId xmlns:r="http://schemas.openxmlformats.org/officeDocument/2006/relationships" id="259" r:id="Rd9b58bf80f964d64"/>
    <p:sldId xmlns:r="http://schemas.openxmlformats.org/officeDocument/2006/relationships" id="260" r:id="R91de3e1558e64cc8"/>
    <p:sldId xmlns:r="http://schemas.openxmlformats.org/officeDocument/2006/relationships" id="261" r:id="R56951180756741d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7970454b864c95" /><Relationship Type="http://schemas.openxmlformats.org/officeDocument/2006/relationships/slideMaster" Target="/ppt/slideMasters/slideMaster1.xml" Id="R67a21f379ca04c59" /><Relationship Type="http://schemas.openxmlformats.org/officeDocument/2006/relationships/notesMaster" Target="/ppt/notesMasters/notesMaster1.xml" Id="R89158ab70a24426e" /><Relationship Type="http://schemas.openxmlformats.org/officeDocument/2006/relationships/presProps" Target="/ppt/presProps.xml" Id="R81146c24bcb2490e" /><Relationship Type="http://schemas.openxmlformats.org/officeDocument/2006/relationships/tableStyles" Target="/ppt/tableStyles.xml" Id="R6fef85acf2514b5e" /><Relationship Type="http://schemas.openxmlformats.org/officeDocument/2006/relationships/slide" Target="/ppt/slides/slide1.xml" Id="R5cc3aec9a38d467c" /><Relationship Type="http://schemas.openxmlformats.org/officeDocument/2006/relationships/slide" Target="/ppt/slides/slide2.xml" Id="R97c0205afa644d79" /><Relationship Type="http://schemas.openxmlformats.org/officeDocument/2006/relationships/slide" Target="/ppt/slides/slide3.xml" Id="R47bdbf07c04d46df" /><Relationship Type="http://schemas.openxmlformats.org/officeDocument/2006/relationships/slide" Target="/ppt/slides/slide4.xml" Id="Rd9b58bf80f964d64" /><Relationship Type="http://schemas.openxmlformats.org/officeDocument/2006/relationships/slide" Target="/ppt/slides/slide5.xml" Id="R91de3e1558e64cc8" /><Relationship Type="http://schemas.openxmlformats.org/officeDocument/2006/relationships/slide" Target="/ppt/slides/slide6.xml" Id="R56951180756741d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f2dca9ea7b4f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e5e1716eac486d" /><Relationship Type="http://schemas.openxmlformats.org/officeDocument/2006/relationships/notesMaster" Target="/ppt/notesMasters/notesMaster1.xml" Id="R2827d5e38c8d46c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3cac2e14e04b29" /><Relationship Type="http://schemas.openxmlformats.org/officeDocument/2006/relationships/notesMaster" Target="/ppt/notesMasters/notesMaster1.xml" Id="Rfacd7d24c17147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8e11db30f9f4328" /><Relationship Type="http://schemas.openxmlformats.org/officeDocument/2006/relationships/notesMaster" Target="/ppt/notesMasters/notesMaster1.xml" Id="Rf72fff28da87485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54f8d90df564ecb" /><Relationship Type="http://schemas.openxmlformats.org/officeDocument/2006/relationships/notesMaster" Target="/ppt/notesMasters/notesMaster1.xml" Id="Re37c9cf721404e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d752f598bd4357" /><Relationship Type="http://schemas.openxmlformats.org/officeDocument/2006/relationships/notesMaster" Target="/ppt/notesMasters/notesMaster1.xml" Id="R5854121541d343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582a454b448bd" /><Relationship Type="http://schemas.openxmlformats.org/officeDocument/2006/relationships/notesMaster" Target="/ppt/notesMasters/notesMaster1.xml" Id="Rdd29075603394aa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Project scope: train with ATP seasons through 2023 and evaluate historical pre-match predictions on the 2024 ATP season. Data source and license are cited on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 mirror: https://github.com/farhadGithub/tennis-atp-data. Its README identifies the files as ATP men's singles match data in Jeff Sackmann format, covering 1968-2024, and states CC BY-NC-SA 4.0. Original compiler attribution: Jeff Sackmann / Tennis Abstract. The project uses the 1991-2024 season files. The final cleaned workbook has 108,375 match rows and 50 columns, including the added season label.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A/B orientation uses player ID order; the IDs themselves are not predictors. Matches with the same tournament start date share one prior-history snapshot. A 14-day embargo helps avoid outcomes from overlapping tournaments. The tradeoff is less current form. Davis Cup is excluded due to its team format and date ambiguity.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Hyperparameter search: logistic regression and LinearSVC each compared C = 0.01, 0.1, 1, and 10. Random forest used 200 trees and max_features=sqrt throughout, comparing max_depth in {None, 20} and min_samples_leaf in {1, 3}. Highest 2022 validation accuracy selected each model's parameters. The final model fits through the 2023 season. During the 2024 walk-forward simulation, only sufficiently old earlier 2024 results can update form features; 2024 outcomes never fit the model or tune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2022 chart shows validation accuracy after tuning on that season. The 2024 chart compares all methods on the 2,810 test matches with both player rankings recorded: logistic regression 65.30%, linear SVM 65.20%, random forest 64.45%, and the rank-only baseline 63.77%. Logistic regression's accuracy across all 2,816 matches is 65.34%. The 2024 test season was not used to choose settings.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Demo: Open tennis_match_prediction.ipynb, select the project .venv Python kernel, and run cells in order. The initial model chart appears after the initial-model cell, the tuning plot after the tuning cell, and the final 2024 evaluation plots after evaluation. Explain feature history and the 14-day gap.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52cc82050c41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72d1dec1a947f2" /><Relationship Type="http://schemas.openxmlformats.org/officeDocument/2006/relationships/slideLayout" Target="/ppt/slideLayouts/slideLayout1.xml" Id="Rd82d481632a046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2d481632a046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4d669249a4069" /><Relationship Type="http://schemas.openxmlformats.org/officeDocument/2006/relationships/notesSlide" Target="/ppt/notesSlides/notesSlide1.xml" Id="Re0cfcf8ecb294ff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da201ff8944ed" /><Relationship Type="http://schemas.openxmlformats.org/officeDocument/2006/relationships/notesSlide" Target="/ppt/notesSlides/notesSlide2.xml" Id="Ra5561e82a03446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f440ff7ac74a52" /><Relationship Type="http://schemas.openxmlformats.org/officeDocument/2006/relationships/notesSlide" Target="/ppt/notesSlides/notesSlide3.xml" Id="R47a079c82b4347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18ca909de48df" /><Relationship Type="http://schemas.openxmlformats.org/officeDocument/2006/relationships/notesSlide" Target="/ppt/notesSlides/notesSlide4.xml" Id="Rcd2280fad13d4bc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b20e28034963" /><Relationship Type="http://schemas.openxmlformats.org/officeDocument/2006/relationships/chart" Target="/ppt/slides/charts/chart1.xml" Id="R8353b3977381458e" /><Relationship Type="http://schemas.openxmlformats.org/officeDocument/2006/relationships/chart" Target="/ppt/slides/charts/chart2.xml" Id="R6bd4b369862a408a" /><Relationship Type="http://schemas.openxmlformats.org/officeDocument/2006/relationships/notesSlide" Target="/ppt/notesSlides/notesSlide5.xml" Id="R2eabe9827da742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153b0a2e634575" /><Relationship Type="http://schemas.openxmlformats.org/officeDocument/2006/relationships/notesSlide" Target="/ppt/notesSlides/notesSlide6.xml" Id="R2459e9af760e4a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2022 validation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65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478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478A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8A8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39B3B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Logistic reg.</c:v>
                </c:pt>
                <c:pt idx="1">
                  <c:v>Linear SVM</c:v>
                </c:pt>
                <c:pt idx="2">
                  <c:v>Random forest</c:v>
                </c:pt>
              </c:strCache>
            </c:strRef>
          </c:cat>
          <c:val>
            <c:numRef>
              <c:f>'Chart Data'!$B$2:$B$4</c:f>
              <c:numCache>
                <c:formatCode>0"%"</c:formatCode>
                <c:ptCount val="3"/>
                <c:pt idx="0">
                  <c:v>66.04</c:v>
                </c:pt>
                <c:pt idx="1">
                  <c:v>65.89</c:v>
                </c:pt>
                <c:pt idx="2">
                  <c:v>66.37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531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6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2024 test, shared rank subset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 b="1">
              <a:solidFill>
                <a:srgbClr val="17365D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Accuracy</c:v>
          </c:tx>
          <c:spPr>
            <a:solidFill xmlns:a="http://schemas.openxmlformats.org/drawingml/2006/main">
              <a:srgbClr val="3478A8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478A8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38A8D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E39B3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8897A5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Logistic reg.</c:v>
                </c:pt>
                <c:pt idx="1">
                  <c:v>Linear SVM</c:v>
                </c:pt>
                <c:pt idx="2">
                  <c:v>Random forest</c:v>
                </c:pt>
                <c:pt idx="3">
                  <c:v>Rank baseline</c:v>
                </c:pt>
              </c:strCache>
            </c:strRef>
          </c:cat>
          <c:val>
            <c:numRef>
              <c:f>'Chart Data'!$B$2:$B$5</c:f>
              <c:numCache>
                <c:formatCode>0"%"</c:formatCode>
                <c:ptCount val="4"/>
                <c:pt idx="0">
                  <c:v>65.3</c:v>
                </c:pt>
                <c:pt idx="1">
                  <c:v>65.2</c:v>
                </c:pt>
                <c:pt idx="2">
                  <c:v>64.45</c:v>
                </c:pt>
                <c:pt idx="3">
                  <c:v>63.77</c:v>
                </c:pt>
              </c:numCache>
            </c:numRef>
          </c:val>
        </c:ser>
        <c:dLbls>
          <c:numFmt formatCode="0.0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25313C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6DEE6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D58616-F9BB-408A-8D9E-EC9D25C7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23950"/>
            <a:ext cx="962025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4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ATP Tennis Match</a:t>
            </a:r>
          </a:p>
          <a:p xmlns:a="http://schemas.openxmlformats.org/drawingml/2006/main">
            <a:pPr>
              <a:buNone/>
              <a:defRPr sz="43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Winner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A60A66-3777-4071-9A89-5752311B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47C55"/>
                </a:solidFill>
                <a:latin typeface="Arial"/>
                <a:ea typeface="Arial"/>
                <a:cs typeface="Arial"/>
              </a:rPr>
              <a:t>Historical evaluation on the 2024 ATP season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26A42-B196-4429-9063-231E78A9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766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Pre-match data, model tuning, and a chronological test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2130E7-9B46-4B2C-892E-99D6758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57850"/>
            <a:ext cx="714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Machine Learning Mini-Project</a:t>
            </a:r>
          </a:p>
        </p:txBody>
      </p:sp>
    </p:spTree>
    <p:extLst>
      <p:ext uri="{BB962C8B-B14F-4D97-AF65-F5344CB8AC3E}">
        <p14:creationId xmlns:p14="http://schemas.microsoft.com/office/powerpoint/2010/main" val="2026677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6EC2B-6CA9-4EB3-8B8B-5DE822FF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Problem and dataset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88C254-69D7-46CB-8700-E55089EF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ATP MATCH PREDICTION  |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C0AEFA-5751-4DE8-B1C9-B079923F7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811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Prediction question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DAF5D-C204-47FD-B256-E524D7B5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4667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Can pre-match player history predict which ATP singles player wins?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3A1E8B-82E7-47D0-9D35-9CECAAB51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381125"/>
            <a:ext cx="409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30F6BD-47DF-49F0-BD3D-3411354D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857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1991-2024 ATP seasons</a:t>
            </a:r>
          </a:p>
          <a:p xmlns:a="http://schemas.openxmlformats.org/drawingml/2006/main">
            <a:pPr>
              <a:buNone/>
              <a:defRPr sz="1725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108,375 cleaned matches</a:t>
            </a:r>
          </a:p>
          <a:p xmlns:a="http://schemas.openxmlformats.org/drawingml/2006/main">
            <a:pPr>
              <a:buNone/>
              <a:defRPr sz="1725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49 source fields + season label</a:t>
            </a:r>
          </a:p>
          <a:p xmlns:a="http://schemas.openxmlformats.org/drawingml/2006/main">
            <a:pPr>
              <a:buNone/>
              <a:defRPr sz="1725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98,530 matches after Davis Cup exclusion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279B8-0D9F-415E-9C21-52416E97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038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code combines the separate yearly CSV files into one cleaned Matches sheet. The workbook has one row per match.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FAF125-FB08-4707-AC3D-0091BB14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81625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Source: Jeff Sackmann / Tennis Abstract, via the ATP data mirror. CC BY-NC-SA 4.0.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BFB830-9427-4A12-978E-1539393F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defPPr>
              <a:defRPr sz="150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One row is one match. Player A is the lower numeric player ID. Target: 1 if A wins, 0 if B wins.</a:t>
            </a:r>
          </a:p>
        </p:txBody>
      </p:sp>
    </p:spTree>
    <p:extLst>
      <p:ext uri="{BB962C8B-B14F-4D97-AF65-F5344CB8AC3E}">
        <p14:creationId xmlns:p14="http://schemas.microsoft.com/office/powerpoint/2010/main" val="4281415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9C33E0-5E1A-4689-B141-4F78FAE1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Pre-match information only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ED8457-A67B-4666-BA92-A0A77ABF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ATP MATCH PREDICTION  |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2A2D34-BE09-4CC2-BFF1-593AB230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25 pre-match input features, grouped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9E1706-F682-4079-88BB-70A94D07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Ranking and ranking points for both players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6BCAB-0E1A-43A7-9F4E-088A5BBA7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241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Career and last-5/10/25 win-rate differences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282839-90E6-4409-8AF8-FDC91143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194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Surface win rates and prior match counts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62FFD-0630-43C6-B2E1-2B80A223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147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Prior head-to-head and recent match activity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96F0FA-0808-4F97-8079-45D100DCF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100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Age, height, and handedness differences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045DD2-C3A9-4EC8-BA6D-FFC1C26F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053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Surface, event level, round, best-of, draw size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F2C517-F695-49EE-93B7-5ED08BEC8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257300"/>
            <a:ext cx="3333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14-day history safeguard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C6AE6-A817-4CA6-887A-C434F69DB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809750"/>
            <a:ext cx="32766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source gives tournament start dates, not exact match dates. Prior event results enter player history only after 14 days.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D852D5-D44B-462D-BDB0-A1D8383D8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714750"/>
            <a:ext cx="3276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Current-match winner, score, duration, aces, and serve statistics are excluded because they are known only after play.</a:t>
            </a:r>
          </a:p>
        </p:txBody>
      </p:sp>
    </p:spTree>
    <p:extLst>
      <p:ext uri="{BB962C8B-B14F-4D97-AF65-F5344CB8AC3E}">
        <p14:creationId xmlns:p14="http://schemas.microsoft.com/office/powerpoint/2010/main" val="3867000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E08205-931F-4E45-833F-E658EE43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Time split and hyperparameter tuning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DCB38-289F-48EA-A6BE-5242C2741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ATP MATCH PREDICTION  |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1A657-F07B-4C14-910C-A679FEEC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81100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Fit on 1991-2021, tune on 2022, refit through 2023, then test on 2024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948C1-DBD9-4913-9EAA-674EEB49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240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Compare predefined settings on 2022 validation accuracy. Keep 2024 out of tuning.</a:t>
            </a:r>
          </a:p>
        </p:txBody>
      </p:sp>
      <p:graphicFrame>
        <p:nvGraphicFrame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733422-23F6-4526-B8EB-F2E79A578B6C}"/>
              </a:ext>
            </a:extLst>
          </p:cNvPr>
          <p:cNvGraphicFramePr/>
          <p:nvPr/>
        </p:nvGraphicFramePr>
        <p:xfrm>
          <a:off xmlns:a="http://schemas.openxmlformats.org/drawingml/2006/main" x="781050" y="2533650"/>
          <a:ext xmlns:a="http://schemas.openxmlformats.org/drawingml/2006/main" cx="10572750" cy="23622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571750"/>
                <a:gridCol w="3524250"/>
                <a:gridCol w="2476500"/>
                <a:gridCol w="2000250"/>
              </a:tblGrid>
              <a:tr h="49530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Settings searched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Chosen setting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2022 accuracy</a:t>
                      </a:r>
                    </a:p>
                  </a:txBody>
                  <a:tcPr marL="91440" marR="91440" marT="45720" marB="45720">
                    <a:solidFill>
                      <a:srgbClr val="17365D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Logistic regression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C: 0.01, 0.1, 1, 10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C = 0.01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66.04%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Linear SVM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C: 0.01, 0.1, 1, 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C = 0.01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65.89%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Random forest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Depth: None/20; leaf: 1/3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Depth 20; leaf 3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5313C"/>
                          </a:solidFill>
                          <a:latin typeface="Arial"/>
                          <a:ea typeface="Arial"/>
                          <a:cs typeface="Arial"/>
                        </a:rPr>
                        <a:t>66.37%</a:t>
                      </a:r>
                    </a:p>
                  </a:txBody>
                  <a:tcPr marL="91440" marR="91440" marT="45720" marB="45720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0806E-B97B-4970-BFE9-B8F994422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Random forest uses 200 trees and sqrt feature sampling. Imputation, encoding, and scaling fit on training data only.</a:t>
            </a:r>
          </a:p>
        </p:txBody>
      </p:sp>
    </p:spTree>
    <p:extLst>
      <p:ext uri="{BB962C8B-B14F-4D97-AF65-F5344CB8AC3E}">
        <p14:creationId xmlns:p14="http://schemas.microsoft.com/office/powerpoint/2010/main" val="3816599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A1572-30F7-4253-85EF-3901D352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2024 held-out results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2512D-7E93-4547-AE0B-1C5FCBEB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ATP MATCH PREDICTION  |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40599B-FDA8-4914-B913-C8CA9A91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626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3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The test chart compares the four methods on the same 2,810 matches with both ranks recorded. Logistic regression scored 65.30% on this subset and 65.34% across all 2,816 test matches.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A2E9C30-4905-4B24-BE55-556035BC5A07}"/>
              </a:ext>
            </a:extLst>
          </p:cNvPr>
          <p:cNvGraphicFramePr/>
          <p:nvPr/>
        </p:nvGraphicFramePr>
        <p:xfrm>
          <a:off xmlns:a="http://schemas.openxmlformats.org/drawingml/2006/main" x="723900" y="1428750"/>
          <a:ext xmlns:a="http://schemas.openxmlformats.org/drawingml/2006/main" cx="5238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353b3977381458e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67A5AABD-0652-4C02-B448-22D5DA0B998F}"/>
              </a:ext>
            </a:extLst>
          </p:cNvPr>
          <p:cNvGraphicFramePr/>
          <p:nvPr/>
        </p:nvGraphicFramePr>
        <p:xfrm>
          <a:off xmlns:a="http://schemas.openxmlformats.org/drawingml/2006/main" x="6210300" y="1428750"/>
          <a:ext xmlns:a="http://schemas.openxmlformats.org/drawingml/2006/main" cx="5238750" cy="3667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bd4b369862a408a"/>
          </a:graphicData>
        </a:graphic>
      </p:graphicFrame>
    </p:spTree>
    <p:extLst>
      <p:ext uri="{BB962C8B-B14F-4D97-AF65-F5344CB8AC3E}">
        <p14:creationId xmlns:p14="http://schemas.microsoft.com/office/powerpoint/2010/main" val="10211426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2FC3C-9526-464D-9EF4-68B4B2F6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0820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15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Conclusion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E6FB6-F629-4988-8723-7A42472A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50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ATP MATCH PREDICTION  |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EA699B-133D-4186-B2B7-A5A5F619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85875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What the evaluation shows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CF893-1226-4CBB-8EBA-1458B4C6E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09750"/>
            <a:ext cx="5095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65D"/>
                </a:solidFill>
                <a:latin typeface="Arial"/>
                <a:ea typeface="Arial"/>
                <a:cs typeface="Arial"/>
              </a:rPr>
              <a:t>Logistic regression led the 2024 test at 65.34%. All three models beat the ranking baseline on the shared matches.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F7470-7978-411E-94B5-40114CBB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5095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75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Random forest had the highest 2022 validation accuracy at 66.37%. The 2024 season was reserved for evaluation, not tuning.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5283B-3FAF-48A4-AAE6-16DFC5D18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85875"/>
            <a:ext cx="4381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347C55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347C55"/>
                </a:solidFill>
                <a:latin typeface="Arial"/>
                <a:ea typeface="Arial"/>
                <a:cs typeface="Arial"/>
              </a:rPr>
              <a:t>Live demonstration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B0154D-A34B-464D-A444-B3CD30A2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4381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Open tennis_match_prediction.ipynb.</a:t>
            </a:r>
          </a:p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Select the project's Python kernel and run cells in order.</a:t>
            </a:r>
          </a:p>
          <a:p xmlns:a="http://schemas.openxmlformats.org/drawingml/2006/main">
            <a:pPr>
              <a:buNone/>
              <a:defRPr sz="1650" b="0">
                <a:solidFill>
                  <a:srgbClr val="25313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13C"/>
                </a:solidFill>
                <a:latin typeface="Arial"/>
                <a:ea typeface="Arial"/>
                <a:cs typeface="Arial"/>
              </a:rPr>
              <a:t>Charts appear below each stage; explain features and the 14-day gap.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060D7-3AE1-4E6B-B619-655A56EDD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433387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425" b="0">
                <a:solidFill>
                  <a:srgbClr val="526170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170"/>
                </a:solidFill>
                <a:latin typeface="Arial"/>
                <a:ea typeface="Arial"/>
                <a:cs typeface="Arial"/>
              </a:rPr>
              <a:t>Limits: ATP main-tour data only; no exact match dates, injuries, or odds. The 14-day gap can make recent-form features less current.</a:t>
            </a:r>
          </a:p>
        </p:txBody>
      </p:sp>
    </p:spTree>
    <p:extLst>
      <p:ext uri="{BB962C8B-B14F-4D97-AF65-F5344CB8AC3E}">
        <p14:creationId xmlns:p14="http://schemas.microsoft.com/office/powerpoint/2010/main" val="3514707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2026-10-08T03:39:55.0310000Z</dcterms:created>
  <dcterms:modified xsi:type="dcterms:W3CDTF">2026-10-08T03:39:55.0310000Z</dcterms:modified>
</coreProperties>
</file>